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novo" initials="l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80"/>
    <a:srgbClr val="0086A8"/>
    <a:srgbClr val="0B3FC3"/>
    <a:srgbClr val="1C4DB2"/>
    <a:srgbClr val="CDD9ED"/>
    <a:srgbClr val="2D4C7F"/>
    <a:srgbClr val="FFFFFF"/>
    <a:srgbClr val="DCDCDC"/>
    <a:srgbClr val="F0F0F0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045" autoAdjust="0"/>
  </p:normalViewPr>
  <p:slideViewPr>
    <p:cSldViewPr snapToGrid="0" showGuides="1">
      <p:cViewPr varScale="1">
        <p:scale>
          <a:sx n="66" d="100"/>
          <a:sy n="66" d="100"/>
        </p:scale>
        <p:origin x="410" y="41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commentAuthors" Target="commentAuthors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0F747F6-A844-4E8F-A0A0-423B86FE2B27}" type="doc">
      <dgm:prSet loTypeId="urn:microsoft.com/office/officeart/2005/8/layout/cycle2" loCatId="cycle" qsTypeId="urn:microsoft.com/office/officeart/2005/8/quickstyle/simple2" qsCatId="simple" csTypeId="urn:microsoft.com/office/officeart/2005/8/colors/accent1_2" csCatId="accent1" phldr="0"/>
      <dgm:spPr/>
      <dgm:t>
        <a:bodyPr/>
        <a:p>
          <a:endParaRPr lang="zh-CN" altLang="en-US"/>
        </a:p>
      </dgm:t>
    </dgm:pt>
    <dgm:pt modelId="{BE1D93E0-1064-4E35-84F1-274817A8FA14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Agent状态</a:t>
          </a:r>
          <a:r>
            <a:rPr lang="zh-CN" altLang="en-US"/>
            <a:t/>
          </a:r>
          <a:endParaRPr lang="zh-CN" altLang="en-US"/>
        </a:p>
      </dgm:t>
    </dgm:pt>
    <dgm:pt modelId="{B76F6F1F-7313-47A5-BC2E-994D915C21FA}" cxnId="{279430A4-BF8A-4387-9D7C-1CBE839ED173}" type="parTrans">
      <dgm:prSet/>
      <dgm:spPr/>
      <dgm:t>
        <a:bodyPr/>
        <a:p>
          <a:endParaRPr lang="zh-CN" altLang="en-US"/>
        </a:p>
      </dgm:t>
    </dgm:pt>
    <dgm:pt modelId="{485E5104-1EB8-413E-A70E-ADACDF839B14}" cxnId="{279430A4-BF8A-4387-9D7C-1CBE839ED173}" type="sibTrans">
      <dgm:prSet/>
      <dgm:spPr/>
      <dgm:t>
        <a:bodyPr/>
        <a:p>
          <a:endParaRPr lang="zh-CN" altLang="en-US"/>
        </a:p>
      </dgm:t>
    </dgm:pt>
    <dgm:pt modelId="{C850D67D-D455-40F2-BF40-958244ECBECF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时间线回放</a:t>
          </a:r>
          <a:r>
            <a:rPr lang="zh-CN" altLang="en-US"/>
            <a:t/>
          </a:r>
          <a:endParaRPr lang="zh-CN" altLang="en-US"/>
        </a:p>
      </dgm:t>
    </dgm:pt>
    <dgm:pt modelId="{815BEECE-237C-451B-AD1A-99AD91077DC5}" cxnId="{0CAE62B5-A321-4E94-857C-7CCD42672F32}" type="parTrans">
      <dgm:prSet/>
      <dgm:spPr/>
      <dgm:t>
        <a:bodyPr/>
        <a:p>
          <a:endParaRPr lang="zh-CN" altLang="en-US"/>
        </a:p>
      </dgm:t>
    </dgm:pt>
    <dgm:pt modelId="{440047A4-99C5-4142-9A9A-791B1494D18D}" cxnId="{0CAE62B5-A321-4E94-857C-7CCD42672F32}" type="sibTrans">
      <dgm:prSet/>
      <dgm:spPr/>
      <dgm:t>
        <a:bodyPr/>
        <a:p>
          <a:endParaRPr lang="zh-CN" altLang="en-US"/>
        </a:p>
      </dgm:t>
    </dgm:pt>
    <dgm:pt modelId="{B8C84936-1FF8-491C-957F-E93A0D56BE72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辩论详情</a:t>
          </a:r>
          <a:r>
            <a:rPr lang="zh-CN" altLang="en-US"/>
            <a:t/>
          </a:r>
          <a:endParaRPr lang="zh-CN" altLang="en-US"/>
        </a:p>
      </dgm:t>
    </dgm:pt>
    <dgm:pt modelId="{0A3DB1B2-EEAB-46E8-83B7-3C75439F76AD}" cxnId="{E495135A-102A-45BC-841F-6FBCF2666E41}" type="parTrans">
      <dgm:prSet/>
      <dgm:spPr/>
      <dgm:t>
        <a:bodyPr/>
        <a:p>
          <a:endParaRPr lang="zh-CN" altLang="en-US"/>
        </a:p>
      </dgm:t>
    </dgm:pt>
    <dgm:pt modelId="{1D27C24F-A927-4600-8878-8630ECEBD341}" cxnId="{E495135A-102A-45BC-841F-6FBCF2666E41}" type="sibTrans">
      <dgm:prSet/>
      <dgm:spPr/>
      <dgm:t>
        <a:bodyPr/>
        <a:p>
          <a:endParaRPr lang="zh-CN" altLang="en-US"/>
        </a:p>
      </dgm:t>
    </dgm:pt>
    <dgm:pt modelId="{BDF19F98-1BB6-4691-BA39-AC544680C920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>
              <a:sym typeface="+mn-ea"/>
            </a:rPr>
            <a:t>详细</a:t>
          </a:r>
          <a:r>
            <a:rPr>
              <a:sym typeface="+mn-ea"/>
            </a:rPr>
            <a:t>指标</a:t>
          </a:r>
          <a:r>
            <a:rPr lang="zh-CN" altLang="en-US"/>
            <a:t/>
          </a:r>
          <a:endParaRPr lang="zh-CN" altLang="en-US"/>
        </a:p>
      </dgm:t>
    </dgm:pt>
    <dgm:pt modelId="{0E0CE0D5-07C4-4901-B365-8211F8750388}" cxnId="{54507307-8629-41A4-95B3-7D4F9E48AEE7}" type="parTrans">
      <dgm:prSet/>
      <dgm:spPr/>
      <dgm:t>
        <a:bodyPr/>
        <a:p>
          <a:endParaRPr lang="zh-CN" altLang="en-US"/>
        </a:p>
      </dgm:t>
    </dgm:pt>
    <dgm:pt modelId="{ABEF5CDB-B202-47B1-8976-6563592DD193}" cxnId="{54507307-8629-41A4-95B3-7D4F9E48AEE7}" type="sibTrans">
      <dgm:prSet/>
      <dgm:spPr/>
      <dgm:t>
        <a:bodyPr/>
        <a:p>
          <a:endParaRPr lang="zh-CN" altLang="en-US"/>
        </a:p>
      </dgm:t>
    </dgm:pt>
    <dgm:pt modelId="{A76F7821-8389-4FF6-81DA-C4B97FDCE57C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社交图</a:t>
          </a:r>
          <a:r>
            <a:rPr lang="zh-CN" altLang="en-US"/>
            <a:t/>
          </a:r>
          <a:endParaRPr lang="zh-CN" altLang="en-US"/>
        </a:p>
      </dgm:t>
    </dgm:pt>
    <dgm:pt modelId="{D69A4B64-ECF7-44B7-B11F-30D5FBCABAD0}" cxnId="{21CF6D05-0F97-4862-AC59-30265A6CFFD4}" type="parTrans">
      <dgm:prSet/>
      <dgm:spPr/>
      <dgm:t>
        <a:bodyPr/>
        <a:p>
          <a:endParaRPr lang="zh-CN" altLang="en-US"/>
        </a:p>
      </dgm:t>
    </dgm:pt>
    <dgm:pt modelId="{C62D58A2-E7B0-4326-BAF0-CD60EBC9C61D}" cxnId="{21CF6D05-0F97-4862-AC59-30265A6CFFD4}" type="sibTrans">
      <dgm:prSet/>
      <dgm:spPr/>
      <dgm:t>
        <a:bodyPr/>
        <a:p>
          <a:endParaRPr lang="zh-CN" altLang="en-US"/>
        </a:p>
      </dgm:t>
    </dgm:pt>
    <dgm:pt modelId="{A15C1A26-8DF5-40E1-BCEB-A9F490C30D57}" type="pres">
      <dgm:prSet presAssocID="{00F747F6-A844-4E8F-A0A0-423B86FE2B27}" presName="cycle" presStyleCnt="0">
        <dgm:presLayoutVars>
          <dgm:dir/>
          <dgm:resizeHandles val="exact"/>
        </dgm:presLayoutVars>
      </dgm:prSet>
      <dgm:spPr/>
    </dgm:pt>
    <dgm:pt modelId="{9027A074-C2B4-4B5C-8A24-9F326C135F2C}" type="pres">
      <dgm:prSet presAssocID="{BE1D93E0-1064-4E35-84F1-274817A8FA14}" presName="node" presStyleLbl="node1" presStyleIdx="0" presStyleCnt="5">
        <dgm:presLayoutVars>
          <dgm:bulletEnabled val="1"/>
        </dgm:presLayoutVars>
      </dgm:prSet>
      <dgm:spPr/>
    </dgm:pt>
    <dgm:pt modelId="{D428F19C-A8D3-4893-AD7E-2BA65F02F820}" type="pres">
      <dgm:prSet presAssocID="{485E5104-1EB8-413E-A70E-ADACDF839B14}" presName="sibTrans" presStyleLbl="sibTrans2D1" presStyleIdx="0" presStyleCnt="5"/>
      <dgm:spPr/>
    </dgm:pt>
    <dgm:pt modelId="{A9F3C989-90B4-4758-9A33-E49FCD0C7D74}" type="pres">
      <dgm:prSet presAssocID="{485E5104-1EB8-413E-A70E-ADACDF839B14}" presName="connectorText" presStyleCnt="0"/>
      <dgm:spPr/>
    </dgm:pt>
    <dgm:pt modelId="{ADA7BD43-8261-45C1-B84A-0D52FA1E4AE7}" type="pres">
      <dgm:prSet presAssocID="{C850D67D-D455-40F2-BF40-958244ECBECF}" presName="node" presStyleLbl="node1" presStyleIdx="1" presStyleCnt="5">
        <dgm:presLayoutVars>
          <dgm:bulletEnabled val="1"/>
        </dgm:presLayoutVars>
      </dgm:prSet>
      <dgm:spPr/>
    </dgm:pt>
    <dgm:pt modelId="{56F040CF-6F47-4847-8647-F5FDBC9F146A}" type="pres">
      <dgm:prSet presAssocID="{440047A4-99C5-4142-9A9A-791B1494D18D}" presName="sibTrans" presStyleLbl="sibTrans2D1" presStyleIdx="1" presStyleCnt="5"/>
      <dgm:spPr/>
    </dgm:pt>
    <dgm:pt modelId="{625DDE57-EEE3-4179-988C-D68B639218F6}" type="pres">
      <dgm:prSet presAssocID="{440047A4-99C5-4142-9A9A-791B1494D18D}" presName="connectorText" presStyleCnt="0"/>
      <dgm:spPr/>
    </dgm:pt>
    <dgm:pt modelId="{4DEB6BE5-009F-44B4-83FA-1FE41DB12AD9}" type="pres">
      <dgm:prSet presAssocID="{B8C84936-1FF8-491C-957F-E93A0D56BE72}" presName="node" presStyleLbl="node1" presStyleIdx="2" presStyleCnt="5">
        <dgm:presLayoutVars>
          <dgm:bulletEnabled val="1"/>
        </dgm:presLayoutVars>
      </dgm:prSet>
      <dgm:spPr/>
    </dgm:pt>
    <dgm:pt modelId="{212C6A32-E039-4B6C-B264-DA671275507E}" type="pres">
      <dgm:prSet presAssocID="{1D27C24F-A927-4600-8878-8630ECEBD341}" presName="sibTrans" presStyleLbl="sibTrans2D1" presStyleIdx="2" presStyleCnt="5"/>
      <dgm:spPr/>
    </dgm:pt>
    <dgm:pt modelId="{B2DF63D3-0027-42D6-BEB7-43AD254113F1}" type="pres">
      <dgm:prSet presAssocID="{1D27C24F-A927-4600-8878-8630ECEBD341}" presName="connectorText" presStyleCnt="0"/>
      <dgm:spPr/>
    </dgm:pt>
    <dgm:pt modelId="{16EAD731-A57C-4041-B559-7EC79077EC53}" type="pres">
      <dgm:prSet presAssocID="{BDF19F98-1BB6-4691-BA39-AC544680C920}" presName="node" presStyleLbl="node1" presStyleIdx="3" presStyleCnt="5">
        <dgm:presLayoutVars>
          <dgm:bulletEnabled val="1"/>
        </dgm:presLayoutVars>
      </dgm:prSet>
      <dgm:spPr/>
    </dgm:pt>
    <dgm:pt modelId="{2E34DF9E-868B-4A46-AA78-8199053E3B5A}" type="pres">
      <dgm:prSet presAssocID="{ABEF5CDB-B202-47B1-8976-6563592DD193}" presName="sibTrans" presStyleLbl="sibTrans2D1" presStyleIdx="3" presStyleCnt="5"/>
      <dgm:spPr/>
    </dgm:pt>
    <dgm:pt modelId="{3A69013B-636D-412C-A409-F6D854B1E8CF}" type="pres">
      <dgm:prSet presAssocID="{ABEF5CDB-B202-47B1-8976-6563592DD193}" presName="connectorText" presStyleCnt="0"/>
      <dgm:spPr/>
    </dgm:pt>
    <dgm:pt modelId="{12FF041E-83E1-47C9-B066-87396D274A0D}" type="pres">
      <dgm:prSet presAssocID="{A76F7821-8389-4FF6-81DA-C4B97FDCE57C}" presName="node" presStyleLbl="node1" presStyleIdx="4" presStyleCnt="5">
        <dgm:presLayoutVars>
          <dgm:bulletEnabled val="1"/>
        </dgm:presLayoutVars>
      </dgm:prSet>
      <dgm:spPr/>
    </dgm:pt>
    <dgm:pt modelId="{AAFAAFBE-67D6-4C79-BA3C-CA0235E4A8BE}" type="pres">
      <dgm:prSet presAssocID="{C62D58A2-E7B0-4326-BAF0-CD60EBC9C61D}" presName="sibTrans" presStyleLbl="sibTrans2D1" presStyleIdx="4" presStyleCnt="5"/>
      <dgm:spPr/>
    </dgm:pt>
    <dgm:pt modelId="{31E987A1-818B-493F-AA47-EA8FC0CAD285}" type="pres">
      <dgm:prSet presAssocID="{C62D58A2-E7B0-4326-BAF0-CD60EBC9C61D}" presName="connectorText" presStyleCnt="0"/>
      <dgm:spPr/>
    </dgm:pt>
  </dgm:ptLst>
  <dgm:cxnLst>
    <dgm:cxn modelId="{279430A4-BF8A-4387-9D7C-1CBE839ED173}" srcId="{00F747F6-A844-4E8F-A0A0-423B86FE2B27}" destId="{BE1D93E0-1064-4E35-84F1-274817A8FA14}" srcOrd="0" destOrd="0" parTransId="{B76F6F1F-7313-47A5-BC2E-994D915C21FA}" sibTransId="{485E5104-1EB8-413E-A70E-ADACDF839B14}"/>
    <dgm:cxn modelId="{0CAE62B5-A321-4E94-857C-7CCD42672F32}" srcId="{00F747F6-A844-4E8F-A0A0-423B86FE2B27}" destId="{C850D67D-D455-40F2-BF40-958244ECBECF}" srcOrd="1" destOrd="0" parTransId="{815BEECE-237C-451B-AD1A-99AD91077DC5}" sibTransId="{440047A4-99C5-4142-9A9A-791B1494D18D}"/>
    <dgm:cxn modelId="{E495135A-102A-45BC-841F-6FBCF2666E41}" srcId="{00F747F6-A844-4E8F-A0A0-423B86FE2B27}" destId="{B8C84936-1FF8-491C-957F-E93A0D56BE72}" srcOrd="2" destOrd="0" parTransId="{0A3DB1B2-EEAB-46E8-83B7-3C75439F76AD}" sibTransId="{1D27C24F-A927-4600-8878-8630ECEBD341}"/>
    <dgm:cxn modelId="{54507307-8629-41A4-95B3-7D4F9E48AEE7}" srcId="{00F747F6-A844-4E8F-A0A0-423B86FE2B27}" destId="{BDF19F98-1BB6-4691-BA39-AC544680C920}" srcOrd="3" destOrd="0" parTransId="{0E0CE0D5-07C4-4901-B365-8211F8750388}" sibTransId="{ABEF5CDB-B202-47B1-8976-6563592DD193}"/>
    <dgm:cxn modelId="{21CF6D05-0F97-4862-AC59-30265A6CFFD4}" srcId="{00F747F6-A844-4E8F-A0A0-423B86FE2B27}" destId="{A76F7821-8389-4FF6-81DA-C4B97FDCE57C}" srcOrd="4" destOrd="0" parTransId="{D69A4B64-ECF7-44B7-B11F-30D5FBCABAD0}" sibTransId="{C62D58A2-E7B0-4326-BAF0-CD60EBC9C61D}"/>
    <dgm:cxn modelId="{7F08A78C-82CD-4A9B-913B-CA4B617F2CEE}" type="presOf" srcId="{00F747F6-A844-4E8F-A0A0-423B86FE2B27}" destId="{A15C1A26-8DF5-40E1-BCEB-A9F490C30D57}" srcOrd="0" destOrd="0" presId="urn:microsoft.com/office/officeart/2005/8/layout/cycle2"/>
    <dgm:cxn modelId="{BF677965-723A-41A9-BEC8-CCCEDBCE7AE5}" type="presParOf" srcId="{A15C1A26-8DF5-40E1-BCEB-A9F490C30D57}" destId="{9027A074-C2B4-4B5C-8A24-9F326C135F2C}" srcOrd="0" destOrd="0" presId="urn:microsoft.com/office/officeart/2005/8/layout/cycle2"/>
    <dgm:cxn modelId="{24E26D56-78EE-41F6-8EA4-E950A7194363}" type="presOf" srcId="{BE1D93E0-1064-4E35-84F1-274817A8FA14}" destId="{9027A074-C2B4-4B5C-8A24-9F326C135F2C}" srcOrd="0" destOrd="0" presId="urn:microsoft.com/office/officeart/2005/8/layout/cycle2"/>
    <dgm:cxn modelId="{7CAE3B9C-B03A-4564-9691-0065E4489C8E}" type="presParOf" srcId="{A15C1A26-8DF5-40E1-BCEB-A9F490C30D57}" destId="{D428F19C-A8D3-4893-AD7E-2BA65F02F820}" srcOrd="1" destOrd="0" presId="urn:microsoft.com/office/officeart/2005/8/layout/cycle2"/>
    <dgm:cxn modelId="{EC44D416-8640-49F9-8A62-C94E2E409273}" type="presOf" srcId="{485E5104-1EB8-413E-A70E-ADACDF839B14}" destId="{D428F19C-A8D3-4893-AD7E-2BA65F02F820}" srcOrd="0" destOrd="0" presId="urn:microsoft.com/office/officeart/2005/8/layout/cycle2"/>
    <dgm:cxn modelId="{49CBA4F5-4B06-467C-A525-63CF2C815B1C}" type="presParOf" srcId="{D428F19C-A8D3-4893-AD7E-2BA65F02F820}" destId="{A9F3C989-90B4-4758-9A33-E49FCD0C7D74}" srcOrd="0" destOrd="1" presId="urn:microsoft.com/office/officeart/2005/8/layout/cycle2"/>
    <dgm:cxn modelId="{8FF3097D-DB7E-4724-9615-44A284870A2E}" type="presOf" srcId="{485E5104-1EB8-413E-A70E-ADACDF839B14}" destId="{A9F3C989-90B4-4758-9A33-E49FCD0C7D74}" srcOrd="1" destOrd="0" presId="urn:microsoft.com/office/officeart/2005/8/layout/cycle2"/>
    <dgm:cxn modelId="{7C5004EF-8B3C-4FC2-90FE-4F8B9B5316AA}" type="presParOf" srcId="{A15C1A26-8DF5-40E1-BCEB-A9F490C30D57}" destId="{ADA7BD43-8261-45C1-B84A-0D52FA1E4AE7}" srcOrd="2" destOrd="0" presId="urn:microsoft.com/office/officeart/2005/8/layout/cycle2"/>
    <dgm:cxn modelId="{65E39B22-FA89-4291-BCEC-49DA2250454B}" type="presOf" srcId="{C850D67D-D455-40F2-BF40-958244ECBECF}" destId="{ADA7BD43-8261-45C1-B84A-0D52FA1E4AE7}" srcOrd="0" destOrd="0" presId="urn:microsoft.com/office/officeart/2005/8/layout/cycle2"/>
    <dgm:cxn modelId="{11CC42C3-4CFF-4E0E-B314-DEB32193B71F}" type="presParOf" srcId="{A15C1A26-8DF5-40E1-BCEB-A9F490C30D57}" destId="{56F040CF-6F47-4847-8647-F5FDBC9F146A}" srcOrd="3" destOrd="0" presId="urn:microsoft.com/office/officeart/2005/8/layout/cycle2"/>
    <dgm:cxn modelId="{C59825FB-F11F-4F51-91A1-4C2CF068C84B}" type="presOf" srcId="{440047A4-99C5-4142-9A9A-791B1494D18D}" destId="{56F040CF-6F47-4847-8647-F5FDBC9F146A}" srcOrd="0" destOrd="0" presId="urn:microsoft.com/office/officeart/2005/8/layout/cycle2"/>
    <dgm:cxn modelId="{0EE64694-485A-4AF3-A745-04BB50CCAF1E}" type="presParOf" srcId="{56F040CF-6F47-4847-8647-F5FDBC9F146A}" destId="{625DDE57-EEE3-4179-988C-D68B639218F6}" srcOrd="0" destOrd="3" presId="urn:microsoft.com/office/officeart/2005/8/layout/cycle2"/>
    <dgm:cxn modelId="{0FDEDE2F-C97D-480B-B1A9-0BDCF5292460}" type="presOf" srcId="{440047A4-99C5-4142-9A9A-791B1494D18D}" destId="{625DDE57-EEE3-4179-988C-D68B639218F6}" srcOrd="1" destOrd="0" presId="urn:microsoft.com/office/officeart/2005/8/layout/cycle2"/>
    <dgm:cxn modelId="{66AF08F0-37F7-4969-A584-4B659E837D5B}" type="presParOf" srcId="{A15C1A26-8DF5-40E1-BCEB-A9F490C30D57}" destId="{4DEB6BE5-009F-44B4-83FA-1FE41DB12AD9}" srcOrd="4" destOrd="0" presId="urn:microsoft.com/office/officeart/2005/8/layout/cycle2"/>
    <dgm:cxn modelId="{F0CD7127-3210-4B92-8666-DA39F4D0150A}" type="presOf" srcId="{B8C84936-1FF8-491C-957F-E93A0D56BE72}" destId="{4DEB6BE5-009F-44B4-83FA-1FE41DB12AD9}" srcOrd="0" destOrd="0" presId="urn:microsoft.com/office/officeart/2005/8/layout/cycle2"/>
    <dgm:cxn modelId="{4CD6DEA9-8C5E-4516-AB95-6582B88AC739}" type="presParOf" srcId="{A15C1A26-8DF5-40E1-BCEB-A9F490C30D57}" destId="{212C6A32-E039-4B6C-B264-DA671275507E}" srcOrd="5" destOrd="0" presId="urn:microsoft.com/office/officeart/2005/8/layout/cycle2"/>
    <dgm:cxn modelId="{B36E3062-62B6-4834-85C5-F18354103DD8}" type="presOf" srcId="{1D27C24F-A927-4600-8878-8630ECEBD341}" destId="{212C6A32-E039-4B6C-B264-DA671275507E}" srcOrd="0" destOrd="0" presId="urn:microsoft.com/office/officeart/2005/8/layout/cycle2"/>
    <dgm:cxn modelId="{63F48D84-BE06-4D0D-90A6-CC849DFCF09F}" type="presParOf" srcId="{212C6A32-E039-4B6C-B264-DA671275507E}" destId="{B2DF63D3-0027-42D6-BEB7-43AD254113F1}" srcOrd="0" destOrd="5" presId="urn:microsoft.com/office/officeart/2005/8/layout/cycle2"/>
    <dgm:cxn modelId="{A26A4C12-D379-402C-9437-9BF452B04CA1}" type="presOf" srcId="{1D27C24F-A927-4600-8878-8630ECEBD341}" destId="{B2DF63D3-0027-42D6-BEB7-43AD254113F1}" srcOrd="1" destOrd="0" presId="urn:microsoft.com/office/officeart/2005/8/layout/cycle2"/>
    <dgm:cxn modelId="{80380947-3E0B-4D57-B286-DBF450239BC5}" type="presParOf" srcId="{A15C1A26-8DF5-40E1-BCEB-A9F490C30D57}" destId="{16EAD731-A57C-4041-B559-7EC79077EC53}" srcOrd="6" destOrd="0" presId="urn:microsoft.com/office/officeart/2005/8/layout/cycle2"/>
    <dgm:cxn modelId="{5980FC1D-8898-4F97-878E-CE04922ACF5F}" type="presOf" srcId="{BDF19F98-1BB6-4691-BA39-AC544680C920}" destId="{16EAD731-A57C-4041-B559-7EC79077EC53}" srcOrd="0" destOrd="0" presId="urn:microsoft.com/office/officeart/2005/8/layout/cycle2"/>
    <dgm:cxn modelId="{D9F6E34A-B544-485B-AE8E-2E5EA465CB03}" type="presParOf" srcId="{A15C1A26-8DF5-40E1-BCEB-A9F490C30D57}" destId="{2E34DF9E-868B-4A46-AA78-8199053E3B5A}" srcOrd="7" destOrd="0" presId="urn:microsoft.com/office/officeart/2005/8/layout/cycle2"/>
    <dgm:cxn modelId="{B9969752-B0AF-41DA-8C7B-A251592E59CA}" type="presOf" srcId="{ABEF5CDB-B202-47B1-8976-6563592DD193}" destId="{2E34DF9E-868B-4A46-AA78-8199053E3B5A}" srcOrd="0" destOrd="0" presId="urn:microsoft.com/office/officeart/2005/8/layout/cycle2"/>
    <dgm:cxn modelId="{9E68A4E1-32ED-4CD8-A254-62C550F7F962}" type="presParOf" srcId="{2E34DF9E-868B-4A46-AA78-8199053E3B5A}" destId="{3A69013B-636D-412C-A409-F6D854B1E8CF}" srcOrd="0" destOrd="7" presId="urn:microsoft.com/office/officeart/2005/8/layout/cycle2"/>
    <dgm:cxn modelId="{0AA36CA4-F001-495D-AE46-F6862BED3097}" type="presOf" srcId="{ABEF5CDB-B202-47B1-8976-6563592DD193}" destId="{3A69013B-636D-412C-A409-F6D854B1E8CF}" srcOrd="1" destOrd="0" presId="urn:microsoft.com/office/officeart/2005/8/layout/cycle2"/>
    <dgm:cxn modelId="{D4C68326-90FE-4E44-8248-565B5C76C0C0}" type="presParOf" srcId="{A15C1A26-8DF5-40E1-BCEB-A9F490C30D57}" destId="{12FF041E-83E1-47C9-B066-87396D274A0D}" srcOrd="8" destOrd="0" presId="urn:microsoft.com/office/officeart/2005/8/layout/cycle2"/>
    <dgm:cxn modelId="{C463F372-92A5-432D-ABD8-09A10AEA6244}" type="presOf" srcId="{A76F7821-8389-4FF6-81DA-C4B97FDCE57C}" destId="{12FF041E-83E1-47C9-B066-87396D274A0D}" srcOrd="0" destOrd="0" presId="urn:microsoft.com/office/officeart/2005/8/layout/cycle2"/>
    <dgm:cxn modelId="{B104C6B3-684E-46DA-9366-B8ABA9E9F301}" type="presParOf" srcId="{A15C1A26-8DF5-40E1-BCEB-A9F490C30D57}" destId="{AAFAAFBE-67D6-4C79-BA3C-CA0235E4A8BE}" srcOrd="9" destOrd="0" presId="urn:microsoft.com/office/officeart/2005/8/layout/cycle2"/>
    <dgm:cxn modelId="{8CD18056-C355-4B94-A692-FFCDE4308E57}" type="presOf" srcId="{C62D58A2-E7B0-4326-BAF0-CD60EBC9C61D}" destId="{AAFAAFBE-67D6-4C79-BA3C-CA0235E4A8BE}" srcOrd="0" destOrd="0" presId="urn:microsoft.com/office/officeart/2005/8/layout/cycle2"/>
    <dgm:cxn modelId="{573919AF-5DD4-43E4-B389-B6DE76D56262}" type="presParOf" srcId="{AAFAAFBE-67D6-4C79-BA3C-CA0235E4A8BE}" destId="{31E987A1-818B-493F-AA47-EA8FC0CAD285}" srcOrd="0" destOrd="9" presId="urn:microsoft.com/office/officeart/2005/8/layout/cycle2"/>
    <dgm:cxn modelId="{A2658FBF-E482-4F7B-94FD-512E9485E5C8}" type="presOf" srcId="{C62D58A2-E7B0-4326-BAF0-CD60EBC9C61D}" destId="{31E987A1-818B-493F-AA47-EA8FC0CAD285}" srcOrd="1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3907790" cy="3444240"/>
        <a:chOff x="0" y="0"/>
        <a:chExt cx="3907790" cy="3444240"/>
      </a:xfrm>
    </dsp:grpSpPr>
    <dsp:sp modelId="{9027A074-C2B4-4B5C-8A24-9F326C135F2C}">
      <dsp:nvSpPr>
        <dsp:cNvPr id="3" name="椭圆 2"/>
        <dsp:cNvSpPr/>
      </dsp:nvSpPr>
      <dsp:spPr bwMode="white">
        <a:xfrm>
          <a:off x="1433344" y="0"/>
          <a:ext cx="1041102" cy="1041102"/>
        </a:xfrm>
        <a:prstGeom prst="ellipse">
          <a:avLst/>
        </a:prstGeom>
      </dsp:spPr>
      <dsp:style>
        <a:lnRef idx="3">
          <a:schemeClr val="lt1"/>
        </a:lnRef>
        <a:fillRef idx="1">
          <a:schemeClr val="accent1">
            <a:alpha val="90000"/>
            <a:hueOff val="0"/>
            <a:satOff val="0"/>
            <a:lumOff val="0"/>
            <a:alpha val="90196"/>
          </a:schemeClr>
        </a:fillRef>
        <a:effectRef idx="1">
          <a:scrgbClr r="0" g="0" b="0"/>
        </a:effectRef>
        <a:fontRef idx="minor">
          <a:schemeClr val="lt1"/>
        </a:fontRef>
      </dsp:style>
      <dsp:txBody>
        <a:bodyPr vert="horz" wrap="square" lIns="22860" tIns="22860" rIns="22860" bIns="22860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Agent状态</a:t>
          </a:r>
          <a:endParaRPr lang="zh-CN" altLang="en-US"/>
        </a:p>
      </dsp:txBody>
      <dsp:txXfrm>
        <a:off x="1433344" y="0"/>
        <a:ext cx="1041102" cy="1041102"/>
      </dsp:txXfrm>
    </dsp:sp>
    <dsp:sp modelId="{D428F19C-A8D3-4893-AD7E-2BA65F02F820}">
      <dsp:nvSpPr>
        <dsp:cNvPr id="4" name="右箭头 3"/>
        <dsp:cNvSpPr/>
      </dsp:nvSpPr>
      <dsp:spPr bwMode="white">
        <a:xfrm rot="2159999">
          <a:off x="2447651" y="803824"/>
          <a:ext cx="275892" cy="351372"/>
        </a:xfrm>
        <a:prstGeom prst="rightArrow">
          <a:avLst>
            <a:gd name="adj1" fmla="val 60000"/>
            <a:gd name="adj2" fmla="val 50000"/>
          </a:avLst>
        </a:prstGeom>
      </dsp:spPr>
      <dsp:style>
        <a:lnRef idx="0">
          <a:schemeClr val="accent1">
            <a:shade val="90000"/>
            <a:hueOff val="0"/>
            <a:satOff val="0"/>
            <a:lumOff val="0"/>
            <a:alpha val="100000"/>
          </a:schemeClr>
        </a:lnRef>
        <a:fillRef idx="1">
          <a:schemeClr val="accent1">
            <a:shade val="90000"/>
            <a:hueOff val="0"/>
            <a:satOff val="0"/>
            <a:lumOff val="0"/>
            <a:alpha val="100000"/>
          </a:schemeClr>
        </a:fillRef>
        <a:effectRef idx="1">
          <a:scrgbClr r="0" g="0" b="0"/>
        </a:effectRef>
        <a:fontRef idx="minor">
          <a:schemeClr val="lt1"/>
        </a:fontRef>
      </dsp:style>
      <dsp:txBody>
        <a:bodyPr lIns="0" tIns="0" rIns="0" bIns="0" anchor="ctr"/>
        <a:lstStyle>
          <a:lvl1pPr algn="ctr">
            <a:defRPr sz="1300"/>
          </a:lvl1pPr>
          <a:lvl2pPr marL="57150" indent="-57150" algn="ctr">
            <a:defRPr sz="1000"/>
          </a:lvl2pPr>
          <a:lvl3pPr marL="114300" indent="-57150" algn="ctr">
            <a:defRPr sz="1000"/>
          </a:lvl3pPr>
          <a:lvl4pPr marL="171450" indent="-57150" algn="ctr">
            <a:defRPr sz="1000"/>
          </a:lvl4pPr>
          <a:lvl5pPr marL="228600" indent="-57150" algn="ctr">
            <a:defRPr sz="1000"/>
          </a:lvl5pPr>
          <a:lvl6pPr marL="285750" indent="-57150" algn="ctr">
            <a:defRPr sz="1000"/>
          </a:lvl6pPr>
          <a:lvl7pPr marL="342900" indent="-57150" algn="ctr">
            <a:defRPr sz="1000"/>
          </a:lvl7pPr>
          <a:lvl8pPr marL="400050" indent="-57150" algn="ctr">
            <a:defRPr sz="1000"/>
          </a:lvl8pPr>
          <a:lvl9pPr marL="457200" indent="-57150" algn="ctr">
            <a:defRPr sz="1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/>
        </a:p>
      </dsp:txBody>
      <dsp:txXfrm rot="2159999">
        <a:off x="2447651" y="803824"/>
        <a:ext cx="275892" cy="351372"/>
      </dsp:txXfrm>
    </dsp:sp>
    <dsp:sp modelId="{ADA7BD43-8261-45C1-B84A-0D52FA1E4AE7}">
      <dsp:nvSpPr>
        <dsp:cNvPr id="5" name="椭圆 4"/>
        <dsp:cNvSpPr/>
      </dsp:nvSpPr>
      <dsp:spPr bwMode="white">
        <a:xfrm>
          <a:off x="2696748" y="917917"/>
          <a:ext cx="1041102" cy="1041102"/>
        </a:xfrm>
        <a:prstGeom prst="ellipse">
          <a:avLst/>
        </a:prstGeom>
      </dsp:spPr>
      <dsp:style>
        <a:lnRef idx="3">
          <a:schemeClr val="lt1"/>
        </a:lnRef>
        <a:fillRef idx="1">
          <a:schemeClr val="accent1">
            <a:alpha val="90000"/>
            <a:hueOff val="0"/>
            <a:satOff val="0"/>
            <a:lumOff val="0"/>
            <a:alpha val="80196"/>
          </a:schemeClr>
        </a:fillRef>
        <a:effectRef idx="1">
          <a:scrgbClr r="0" g="0" b="0"/>
        </a:effectRef>
        <a:fontRef idx="minor">
          <a:schemeClr val="lt1"/>
        </a:fontRef>
      </dsp:style>
      <dsp:txBody>
        <a:bodyPr vert="horz" wrap="square" lIns="22860" tIns="22860" rIns="22860" bIns="22860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时间线回放</a:t>
          </a:r>
          <a:endParaRPr lang="zh-CN" altLang="en-US"/>
        </a:p>
      </dsp:txBody>
      <dsp:txXfrm>
        <a:off x="2696748" y="917917"/>
        <a:ext cx="1041102" cy="1041102"/>
      </dsp:txXfrm>
    </dsp:sp>
    <dsp:sp modelId="{56F040CF-6F47-4847-8647-F5FDBC9F146A}">
      <dsp:nvSpPr>
        <dsp:cNvPr id="6" name="右箭头 5"/>
        <dsp:cNvSpPr/>
      </dsp:nvSpPr>
      <dsp:spPr bwMode="white">
        <a:xfrm rot="6480000">
          <a:off x="2838064" y="2005392"/>
          <a:ext cx="275892" cy="351372"/>
        </a:xfrm>
        <a:prstGeom prst="rightArrow">
          <a:avLst>
            <a:gd name="adj1" fmla="val 60000"/>
            <a:gd name="adj2" fmla="val 50000"/>
          </a:avLst>
        </a:prstGeom>
      </dsp:spPr>
      <dsp:style>
        <a:lnRef idx="0">
          <a:schemeClr val="accent1">
            <a:shade val="90000"/>
            <a:hueOff val="105000"/>
            <a:satOff val="-1666"/>
            <a:lumOff val="7941"/>
            <a:alpha val="100000"/>
          </a:schemeClr>
        </a:lnRef>
        <a:fillRef idx="1">
          <a:schemeClr val="accent1">
            <a:shade val="90000"/>
            <a:hueOff val="105000"/>
            <a:satOff val="-1666"/>
            <a:lumOff val="7941"/>
            <a:alpha val="100000"/>
          </a:schemeClr>
        </a:fillRef>
        <a:effectRef idx="1">
          <a:scrgbClr r="0" g="0" b="0"/>
        </a:effectRef>
        <a:fontRef idx="minor">
          <a:schemeClr val="lt1"/>
        </a:fontRef>
      </dsp:style>
      <dsp:txBody>
        <a:bodyPr rot="10800000" lIns="0" tIns="0" rIns="0" bIns="0" anchor="ctr"/>
        <a:lstStyle>
          <a:lvl1pPr algn="ctr">
            <a:defRPr sz="1300"/>
          </a:lvl1pPr>
          <a:lvl2pPr marL="57150" indent="-57150" algn="ctr">
            <a:defRPr sz="1000"/>
          </a:lvl2pPr>
          <a:lvl3pPr marL="114300" indent="-57150" algn="ctr">
            <a:defRPr sz="1000"/>
          </a:lvl3pPr>
          <a:lvl4pPr marL="171450" indent="-57150" algn="ctr">
            <a:defRPr sz="1000"/>
          </a:lvl4pPr>
          <a:lvl5pPr marL="228600" indent="-57150" algn="ctr">
            <a:defRPr sz="1000"/>
          </a:lvl5pPr>
          <a:lvl6pPr marL="285750" indent="-57150" algn="ctr">
            <a:defRPr sz="1000"/>
          </a:lvl6pPr>
          <a:lvl7pPr marL="342900" indent="-57150" algn="ctr">
            <a:defRPr sz="1000"/>
          </a:lvl7pPr>
          <a:lvl8pPr marL="400050" indent="-57150" algn="ctr">
            <a:defRPr sz="1000"/>
          </a:lvl8pPr>
          <a:lvl9pPr marL="457200" indent="-57150" algn="ctr">
            <a:defRPr sz="1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/>
        </a:p>
      </dsp:txBody>
      <dsp:txXfrm rot="6480000">
        <a:off x="2838064" y="2005392"/>
        <a:ext cx="275892" cy="351372"/>
      </dsp:txXfrm>
    </dsp:sp>
    <dsp:sp modelId="{4DEB6BE5-009F-44B4-83FA-1FE41DB12AD9}">
      <dsp:nvSpPr>
        <dsp:cNvPr id="7" name="椭圆 6"/>
        <dsp:cNvSpPr/>
      </dsp:nvSpPr>
      <dsp:spPr bwMode="white">
        <a:xfrm>
          <a:off x="2214171" y="2403138"/>
          <a:ext cx="1041102" cy="1041102"/>
        </a:xfrm>
        <a:prstGeom prst="ellipse">
          <a:avLst/>
        </a:prstGeom>
      </dsp:spPr>
      <dsp:style>
        <a:lnRef idx="3">
          <a:schemeClr val="lt1"/>
        </a:lnRef>
        <a:fillRef idx="1">
          <a:schemeClr val="accent1">
            <a:alpha val="90000"/>
            <a:hueOff val="0"/>
            <a:satOff val="0"/>
            <a:lumOff val="0"/>
            <a:alpha val="70196"/>
          </a:schemeClr>
        </a:fillRef>
        <a:effectRef idx="1">
          <a:scrgbClr r="0" g="0" b="0"/>
        </a:effectRef>
        <a:fontRef idx="minor">
          <a:schemeClr val="lt1"/>
        </a:fontRef>
      </dsp:style>
      <dsp:txBody>
        <a:bodyPr vert="horz" wrap="square" lIns="22860" tIns="22860" rIns="22860" bIns="22860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辩论详情</a:t>
          </a:r>
          <a:endParaRPr lang="zh-CN" altLang="en-US"/>
        </a:p>
      </dsp:txBody>
      <dsp:txXfrm>
        <a:off x="2214171" y="2403138"/>
        <a:ext cx="1041102" cy="1041102"/>
      </dsp:txXfrm>
    </dsp:sp>
    <dsp:sp modelId="{212C6A32-E039-4B6C-B264-DA671275507E}">
      <dsp:nvSpPr>
        <dsp:cNvPr id="8" name="右箭头 7"/>
        <dsp:cNvSpPr/>
      </dsp:nvSpPr>
      <dsp:spPr bwMode="white">
        <a:xfrm rot="10800000">
          <a:off x="1815949" y="2748003"/>
          <a:ext cx="275892" cy="351372"/>
        </a:xfrm>
        <a:prstGeom prst="rightArrow">
          <a:avLst>
            <a:gd name="adj1" fmla="val 60000"/>
            <a:gd name="adj2" fmla="val 50000"/>
          </a:avLst>
        </a:prstGeom>
      </dsp:spPr>
      <dsp:style>
        <a:lnRef idx="0">
          <a:schemeClr val="accent1">
            <a:shade val="90000"/>
            <a:hueOff val="210000"/>
            <a:satOff val="-3332"/>
            <a:lumOff val="15882"/>
            <a:alpha val="100000"/>
          </a:schemeClr>
        </a:lnRef>
        <a:fillRef idx="1">
          <a:schemeClr val="accent1">
            <a:shade val="90000"/>
            <a:hueOff val="210000"/>
            <a:satOff val="-3332"/>
            <a:lumOff val="15882"/>
            <a:alpha val="100000"/>
          </a:schemeClr>
        </a:fillRef>
        <a:effectRef idx="1">
          <a:scrgbClr r="0" g="0" b="0"/>
        </a:effectRef>
        <a:fontRef idx="minor">
          <a:schemeClr val="lt1"/>
        </a:fontRef>
      </dsp:style>
      <dsp:txBody>
        <a:bodyPr rot="10800000" lIns="0" tIns="0" rIns="0" bIns="0" anchor="ctr"/>
        <a:lstStyle>
          <a:lvl1pPr algn="ctr">
            <a:defRPr sz="1300"/>
          </a:lvl1pPr>
          <a:lvl2pPr marL="57150" indent="-57150" algn="ctr">
            <a:defRPr sz="1000"/>
          </a:lvl2pPr>
          <a:lvl3pPr marL="114300" indent="-57150" algn="ctr">
            <a:defRPr sz="1000"/>
          </a:lvl3pPr>
          <a:lvl4pPr marL="171450" indent="-57150" algn="ctr">
            <a:defRPr sz="1000"/>
          </a:lvl4pPr>
          <a:lvl5pPr marL="228600" indent="-57150" algn="ctr">
            <a:defRPr sz="1000"/>
          </a:lvl5pPr>
          <a:lvl6pPr marL="285750" indent="-57150" algn="ctr">
            <a:defRPr sz="1000"/>
          </a:lvl6pPr>
          <a:lvl7pPr marL="342900" indent="-57150" algn="ctr">
            <a:defRPr sz="1000"/>
          </a:lvl7pPr>
          <a:lvl8pPr marL="400050" indent="-57150" algn="ctr">
            <a:defRPr sz="1000"/>
          </a:lvl8pPr>
          <a:lvl9pPr marL="457200" indent="-57150" algn="ctr">
            <a:defRPr sz="1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/>
        </a:p>
      </dsp:txBody>
      <dsp:txXfrm rot="10800000">
        <a:off x="1815949" y="2748003"/>
        <a:ext cx="275892" cy="351372"/>
      </dsp:txXfrm>
    </dsp:sp>
    <dsp:sp modelId="{16EAD731-A57C-4041-B559-7EC79077EC53}">
      <dsp:nvSpPr>
        <dsp:cNvPr id="9" name="椭圆 8"/>
        <dsp:cNvSpPr/>
      </dsp:nvSpPr>
      <dsp:spPr bwMode="white">
        <a:xfrm>
          <a:off x="652517" y="2403138"/>
          <a:ext cx="1041102" cy="1041102"/>
        </a:xfrm>
        <a:prstGeom prst="ellipse">
          <a:avLst/>
        </a:prstGeom>
      </dsp:spPr>
      <dsp:style>
        <a:lnRef idx="3">
          <a:schemeClr val="lt1"/>
        </a:lnRef>
        <a:fillRef idx="1">
          <a:schemeClr val="accent1">
            <a:alpha val="90000"/>
            <a:hueOff val="0"/>
            <a:satOff val="0"/>
            <a:lumOff val="0"/>
            <a:alpha val="60196"/>
          </a:schemeClr>
        </a:fillRef>
        <a:effectRef idx="1">
          <a:scrgbClr r="0" g="0" b="0"/>
        </a:effectRef>
        <a:fontRef idx="minor">
          <a:schemeClr val="lt1"/>
        </a:fontRef>
      </dsp:style>
      <dsp:txBody>
        <a:bodyPr vert="horz" wrap="square" lIns="22860" tIns="22860" rIns="22860" bIns="22860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>
              <a:sym typeface="+mn-ea"/>
            </a:rPr>
            <a:t>详细</a:t>
          </a:r>
          <a:r>
            <a:rPr>
              <a:sym typeface="+mn-ea"/>
            </a:rPr>
            <a:t>指标</a:t>
          </a:r>
          <a:endParaRPr lang="zh-CN" altLang="en-US"/>
        </a:p>
      </dsp:txBody>
      <dsp:txXfrm>
        <a:off x="652517" y="2403138"/>
        <a:ext cx="1041102" cy="1041102"/>
      </dsp:txXfrm>
    </dsp:sp>
    <dsp:sp modelId="{2E34DF9E-868B-4A46-AA78-8199053E3B5A}">
      <dsp:nvSpPr>
        <dsp:cNvPr id="10" name="右箭头 9"/>
        <dsp:cNvSpPr/>
      </dsp:nvSpPr>
      <dsp:spPr bwMode="white">
        <a:xfrm rot="15120000">
          <a:off x="793833" y="2005392"/>
          <a:ext cx="275892" cy="351372"/>
        </a:xfrm>
        <a:prstGeom prst="rightArrow">
          <a:avLst>
            <a:gd name="adj1" fmla="val 60000"/>
            <a:gd name="adj2" fmla="val 50000"/>
          </a:avLst>
        </a:prstGeom>
      </dsp:spPr>
      <dsp:style>
        <a:lnRef idx="0">
          <a:schemeClr val="accent1">
            <a:shade val="90000"/>
            <a:hueOff val="315000"/>
            <a:satOff val="-4999"/>
            <a:lumOff val="23824"/>
            <a:alpha val="100000"/>
          </a:schemeClr>
        </a:lnRef>
        <a:fillRef idx="1">
          <a:schemeClr val="accent1">
            <a:shade val="90000"/>
            <a:hueOff val="315000"/>
            <a:satOff val="-4999"/>
            <a:lumOff val="23824"/>
            <a:alpha val="100000"/>
          </a:schemeClr>
        </a:fillRef>
        <a:effectRef idx="1">
          <a:scrgbClr r="0" g="0" b="0"/>
        </a:effectRef>
        <a:fontRef idx="minor">
          <a:schemeClr val="lt1"/>
        </a:fontRef>
      </dsp:style>
      <dsp:txBody>
        <a:bodyPr rot="10800000" lIns="0" tIns="0" rIns="0" bIns="0" anchor="ctr"/>
        <a:lstStyle>
          <a:lvl1pPr algn="ctr">
            <a:defRPr sz="1300"/>
          </a:lvl1pPr>
          <a:lvl2pPr marL="57150" indent="-57150" algn="ctr">
            <a:defRPr sz="1000"/>
          </a:lvl2pPr>
          <a:lvl3pPr marL="114300" indent="-57150" algn="ctr">
            <a:defRPr sz="1000"/>
          </a:lvl3pPr>
          <a:lvl4pPr marL="171450" indent="-57150" algn="ctr">
            <a:defRPr sz="1000"/>
          </a:lvl4pPr>
          <a:lvl5pPr marL="228600" indent="-57150" algn="ctr">
            <a:defRPr sz="1000"/>
          </a:lvl5pPr>
          <a:lvl6pPr marL="285750" indent="-57150" algn="ctr">
            <a:defRPr sz="1000"/>
          </a:lvl6pPr>
          <a:lvl7pPr marL="342900" indent="-57150" algn="ctr">
            <a:defRPr sz="1000"/>
          </a:lvl7pPr>
          <a:lvl8pPr marL="400050" indent="-57150" algn="ctr">
            <a:defRPr sz="1000"/>
          </a:lvl8pPr>
          <a:lvl9pPr marL="457200" indent="-57150" algn="ctr">
            <a:defRPr sz="1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/>
        </a:p>
      </dsp:txBody>
      <dsp:txXfrm rot="15120000">
        <a:off x="793833" y="2005392"/>
        <a:ext cx="275892" cy="351372"/>
      </dsp:txXfrm>
    </dsp:sp>
    <dsp:sp modelId="{12FF041E-83E1-47C9-B066-87396D274A0D}">
      <dsp:nvSpPr>
        <dsp:cNvPr id="11" name="椭圆 10"/>
        <dsp:cNvSpPr/>
      </dsp:nvSpPr>
      <dsp:spPr bwMode="white">
        <a:xfrm>
          <a:off x="169940" y="917917"/>
          <a:ext cx="1041102" cy="1041102"/>
        </a:xfrm>
        <a:prstGeom prst="ellipse">
          <a:avLst/>
        </a:prstGeom>
      </dsp:spPr>
      <dsp:style>
        <a:lnRef idx="3">
          <a:schemeClr val="lt1"/>
        </a:lnRef>
        <a:fillRef idx="1">
          <a:schemeClr val="accent1">
            <a:alpha val="90000"/>
            <a:hueOff val="0"/>
            <a:satOff val="0"/>
            <a:lumOff val="0"/>
            <a:alpha val="50196"/>
          </a:schemeClr>
        </a:fillRef>
        <a:effectRef idx="1">
          <a:scrgbClr r="0" g="0" b="0"/>
        </a:effectRef>
        <a:fontRef idx="minor">
          <a:schemeClr val="lt1"/>
        </a:fontRef>
      </dsp:style>
      <dsp:txBody>
        <a:bodyPr vert="horz" wrap="square" lIns="22860" tIns="22860" rIns="22860" bIns="22860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社交图</a:t>
          </a:r>
          <a:endParaRPr lang="zh-CN" altLang="en-US"/>
        </a:p>
      </dsp:txBody>
      <dsp:txXfrm>
        <a:off x="169940" y="917917"/>
        <a:ext cx="1041102" cy="1041102"/>
      </dsp:txXfrm>
    </dsp:sp>
    <dsp:sp modelId="{AAFAAFBE-67D6-4C79-BA3C-CA0235E4A8BE}">
      <dsp:nvSpPr>
        <dsp:cNvPr id="12" name="右箭头 11"/>
        <dsp:cNvSpPr/>
      </dsp:nvSpPr>
      <dsp:spPr bwMode="white">
        <a:xfrm rot="-2159999">
          <a:off x="1184247" y="803824"/>
          <a:ext cx="275892" cy="351372"/>
        </a:xfrm>
        <a:prstGeom prst="rightArrow">
          <a:avLst>
            <a:gd name="adj1" fmla="val 60000"/>
            <a:gd name="adj2" fmla="val 50000"/>
          </a:avLst>
        </a:prstGeom>
      </dsp:spPr>
      <dsp:style>
        <a:lnRef idx="0">
          <a:schemeClr val="accent1">
            <a:shade val="90000"/>
            <a:hueOff val="420000"/>
            <a:satOff val="-6666"/>
            <a:lumOff val="31765"/>
            <a:alpha val="100000"/>
          </a:schemeClr>
        </a:lnRef>
        <a:fillRef idx="1">
          <a:schemeClr val="accent1">
            <a:shade val="90000"/>
            <a:hueOff val="420000"/>
            <a:satOff val="-6666"/>
            <a:lumOff val="31765"/>
            <a:alpha val="100000"/>
          </a:schemeClr>
        </a:fillRef>
        <a:effectRef idx="1">
          <a:scrgbClr r="0" g="0" b="0"/>
        </a:effectRef>
        <a:fontRef idx="minor">
          <a:schemeClr val="lt1"/>
        </a:fontRef>
      </dsp:style>
      <dsp:txBody>
        <a:bodyPr lIns="0" tIns="0" rIns="0" bIns="0" anchor="ctr"/>
        <a:lstStyle>
          <a:lvl1pPr algn="ctr">
            <a:defRPr sz="1300"/>
          </a:lvl1pPr>
          <a:lvl2pPr marL="57150" indent="-57150" algn="ctr">
            <a:defRPr sz="1000"/>
          </a:lvl2pPr>
          <a:lvl3pPr marL="114300" indent="-57150" algn="ctr">
            <a:defRPr sz="1000"/>
          </a:lvl3pPr>
          <a:lvl4pPr marL="171450" indent="-57150" algn="ctr">
            <a:defRPr sz="1000"/>
          </a:lvl4pPr>
          <a:lvl5pPr marL="228600" indent="-57150" algn="ctr">
            <a:defRPr sz="1000"/>
          </a:lvl5pPr>
          <a:lvl6pPr marL="285750" indent="-57150" algn="ctr">
            <a:defRPr sz="1000"/>
          </a:lvl6pPr>
          <a:lvl7pPr marL="342900" indent="-57150" algn="ctr">
            <a:defRPr sz="1000"/>
          </a:lvl7pPr>
          <a:lvl8pPr marL="400050" indent="-57150" algn="ctr">
            <a:defRPr sz="1000"/>
          </a:lvl8pPr>
          <a:lvl9pPr marL="457200" indent="-57150" algn="ctr">
            <a:defRPr sz="1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/>
        </a:p>
      </dsp:txBody>
      <dsp:txXfrm rot="-2159999">
        <a:off x="1184247" y="803824"/>
        <a:ext cx="275892" cy="3513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2.png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71.xml"/><Relationship Id="rId8" Type="http://schemas.openxmlformats.org/officeDocument/2006/relationships/tags" Target="../tags/tag70.xml"/><Relationship Id="rId7" Type="http://schemas.openxmlformats.org/officeDocument/2006/relationships/tags" Target="../tags/tag69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2" Type="http://schemas.openxmlformats.org/officeDocument/2006/relationships/slideLayout" Target="../slideLayouts/slideLayout7.xml"/><Relationship Id="rId21" Type="http://schemas.openxmlformats.org/officeDocument/2006/relationships/image" Target="../media/image1.png"/><Relationship Id="rId20" Type="http://schemas.openxmlformats.org/officeDocument/2006/relationships/tags" Target="../tags/tag82.xml"/><Relationship Id="rId2" Type="http://schemas.openxmlformats.org/officeDocument/2006/relationships/tags" Target="../tags/tag64.xml"/><Relationship Id="rId19" Type="http://schemas.openxmlformats.org/officeDocument/2006/relationships/tags" Target="../tags/tag81.xml"/><Relationship Id="rId18" Type="http://schemas.openxmlformats.org/officeDocument/2006/relationships/tags" Target="../tags/tag80.xml"/><Relationship Id="rId17" Type="http://schemas.openxmlformats.org/officeDocument/2006/relationships/tags" Target="../tags/tag79.xml"/><Relationship Id="rId16" Type="http://schemas.openxmlformats.org/officeDocument/2006/relationships/tags" Target="../tags/tag78.xml"/><Relationship Id="rId15" Type="http://schemas.openxmlformats.org/officeDocument/2006/relationships/tags" Target="../tags/tag77.xml"/><Relationship Id="rId14" Type="http://schemas.openxmlformats.org/officeDocument/2006/relationships/tags" Target="../tags/tag76.xml"/><Relationship Id="rId13" Type="http://schemas.openxmlformats.org/officeDocument/2006/relationships/tags" Target="../tags/tag75.xml"/><Relationship Id="rId12" Type="http://schemas.openxmlformats.org/officeDocument/2006/relationships/tags" Target="../tags/tag74.xml"/><Relationship Id="rId11" Type="http://schemas.openxmlformats.org/officeDocument/2006/relationships/tags" Target="../tags/tag73.xml"/><Relationship Id="rId10" Type="http://schemas.openxmlformats.org/officeDocument/2006/relationships/tags" Target="../tags/tag72.xml"/><Relationship Id="rId1" Type="http://schemas.openxmlformats.org/officeDocument/2006/relationships/tags" Target="../tags/tag63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9467020" y="0"/>
            <a:ext cx="2558005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姓名：武旻阳</a:t>
            </a:r>
          </a:p>
          <a:p>
            <a:pPr>
              <a:defRPr sz="12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学号: 3240103636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77468"/>
            <a:ext cx="7132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2B5C"/>
                </a:solidFill>
                <a:latin typeface="微软雅黑" panose="020B0503020204020204" charset="-122"/>
              </a:defRPr>
            </a:pPr>
            <a:r>
              <a:t>模块定位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27835"/>
            <a:ext cx="713232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A73E8"/>
                </a:solidFill>
                <a:latin typeface="微软雅黑" panose="020B0503020204020204" charset="-122"/>
              </a:defRPr>
            </a:pPr>
            <a:r>
              <a:rPr lang="en-US" b="1" dirty="0">
                <a:solidFill>
                  <a:srgbClr val="1F2937"/>
                </a:solidFill>
                <a:latin typeface="+mn-lt"/>
              </a:rPr>
              <a:t>D模块：前端可视化与现场 Demo</a:t>
            </a:r>
            <a:endParaRPr lang="en-US" b="1" dirty="0">
              <a:solidFill>
                <a:srgbClr val="1F2937"/>
              </a:solidFill>
              <a:latin typeface="+mn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2372233"/>
            <a:ext cx="155448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2400">
                <a:solidFill>
                  <a:srgbClr val="002B5C"/>
                </a:solidFill>
              </a:rPr>
              <a:t>核心职责</a:t>
            </a:r>
            <a:endParaRPr sz="2400">
              <a:solidFill>
                <a:srgbClr val="002B5C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D4C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pic>
        <p:nvPicPr>
          <p:cNvPr id="23" name="图片 12" descr="logo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895" y="101600"/>
            <a:ext cx="1663700" cy="4819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2" name="文本框 1031"/>
          <p:cNvSpPr txBox="1"/>
          <p:nvPr/>
        </p:nvSpPr>
        <p:spPr>
          <a:xfrm>
            <a:off x="2160270" y="80645"/>
            <a:ext cx="98304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D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模块：前端可视化与现场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Demo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467020" y="-11074"/>
            <a:ext cx="255800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姓名：武旻阳</a:t>
            </a:r>
            <a:endParaRPr lang="en-US" altLang="zh-CN" sz="2000" b="1" dirty="0">
              <a:solidFill>
                <a:schemeClr val="bg1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学号</a:t>
            </a:r>
            <a:r>
              <a:rPr lang="en-US" altLang="zh-CN" sz="2000" b="1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: 3240103636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9" name="Shape 3"/>
          <p:cNvSpPr/>
          <p:nvPr/>
        </p:nvSpPr>
        <p:spPr>
          <a:xfrm>
            <a:off x="484505" y="3051175"/>
            <a:ext cx="6905625" cy="3185795"/>
          </a:xfrm>
          <a:prstGeom prst="roundRect">
            <a:avLst>
              <a:gd name="adj" fmla="val 5618"/>
            </a:avLst>
          </a:prstGeom>
          <a:solidFill>
            <a:srgbClr val="F8FAFD"/>
          </a:solidFill>
          <a:ln w="13970">
            <a:solidFill>
              <a:srgbClr val="D9E2F3"/>
            </a:solidFill>
            <a:prstDash val="solid"/>
          </a:ln>
        </p:spPr>
      </p:sp>
      <p:sp>
        <p:nvSpPr>
          <p:cNvPr id="10" name="文本框 9"/>
          <p:cNvSpPr txBox="1"/>
          <p:nvPr/>
        </p:nvSpPr>
        <p:spPr>
          <a:xfrm>
            <a:off x="635635" y="3188970"/>
            <a:ext cx="6666230" cy="31692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defRPr sz="15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2000">
                <a:sym typeface="+mn-ea"/>
              </a:rPr>
              <a:t>▎实现 Streamlit 页面，构建 6 大功能标签页</a:t>
            </a:r>
            <a:endParaRPr sz="2000">
              <a:sym typeface="+mn-ea"/>
            </a:endParaRPr>
          </a:p>
          <a:p>
            <a:pPr algn="l">
              <a:defRPr sz="1500" b="0">
                <a:solidFill>
                  <a:srgbClr val="333333"/>
                </a:solidFill>
                <a:latin typeface="微软雅黑" panose="020B0503020204020204" charset="-122"/>
              </a:defRPr>
            </a:pPr>
            <a:endParaRPr sz="2000">
              <a:sym typeface="+mn-ea"/>
            </a:endParaRPr>
          </a:p>
          <a:p>
            <a:pPr>
              <a:defRPr sz="15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2000">
                <a:sym typeface="+mn-ea"/>
              </a:rPr>
              <a:t>▎使用 NetworkX + Matplotlib 绘制社交关系网络图</a:t>
            </a:r>
            <a:endParaRPr sz="2000">
              <a:sym typeface="+mn-ea"/>
            </a:endParaRPr>
          </a:p>
          <a:p>
            <a:pPr>
              <a:defRPr sz="1500" b="0">
                <a:solidFill>
                  <a:srgbClr val="333333"/>
                </a:solidFill>
                <a:latin typeface="微软雅黑" panose="020B0503020204020204" charset="-122"/>
              </a:defRPr>
            </a:pPr>
            <a:endParaRPr sz="2000">
              <a:sym typeface="+mn-ea"/>
            </a:endParaRPr>
          </a:p>
          <a:p>
            <a:pPr>
              <a:defRPr sz="15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2000">
                <a:sym typeface="+mn-ea"/>
              </a:rPr>
              <a:t>▎绘制信息传播曲线（传播率、平均置信度、观点分布）</a:t>
            </a:r>
            <a:endParaRPr sz="2000">
              <a:sym typeface="+mn-ea"/>
            </a:endParaRPr>
          </a:p>
          <a:p>
            <a:pPr>
              <a:defRPr sz="1500" b="0">
                <a:solidFill>
                  <a:srgbClr val="333333"/>
                </a:solidFill>
                <a:latin typeface="微软雅黑" panose="020B0503020204020204" charset="-122"/>
              </a:defRPr>
            </a:pPr>
            <a:endParaRPr sz="2000">
              <a:sym typeface="+mn-ea"/>
            </a:endParaRPr>
          </a:p>
          <a:p>
            <a:pPr>
              <a:defRPr sz="15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2000">
                <a:sym typeface="+mn-ea"/>
              </a:rPr>
              <a:t>▎提供完整演示脚本，一键启动 Demo</a:t>
            </a:r>
            <a:endParaRPr sz="2000">
              <a:sym typeface="+mn-ea"/>
            </a:endParaRPr>
          </a:p>
          <a:p>
            <a:pPr>
              <a:defRPr sz="1500" b="0">
                <a:solidFill>
                  <a:srgbClr val="333333"/>
                </a:solidFill>
                <a:latin typeface="微软雅黑" panose="020B0503020204020204" charset="-122"/>
              </a:defRPr>
            </a:pPr>
            <a:endParaRPr sz="2000">
              <a:sym typeface="+mn-ea"/>
            </a:endParaRPr>
          </a:p>
          <a:p>
            <a:pPr>
              <a:defRPr sz="15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2000">
                <a:sym typeface="+mn-ea"/>
              </a:rPr>
              <a:t>▎将 A/B/C 模块导出的 state.json 状态数据可视化呈现</a:t>
            </a:r>
            <a:endParaRPr sz="2000">
              <a:sym typeface="+mn-ea"/>
            </a:endParaRPr>
          </a:p>
          <a:p>
            <a:endParaRPr lang="zh-CN" altLang="en-US" sz="2000">
              <a:sym typeface="+mn-ea"/>
            </a:endParaRPr>
          </a:p>
        </p:txBody>
      </p:sp>
      <p:graphicFrame>
        <p:nvGraphicFramePr>
          <p:cNvPr id="12" name="图示 11"/>
          <p:cNvGraphicFramePr/>
          <p:nvPr/>
        </p:nvGraphicFramePr>
        <p:xfrm>
          <a:off x="7858125" y="965835"/>
          <a:ext cx="3907790" cy="3444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3" name="图片 12"/>
          <p:cNvPicPr>
            <a:picLocks noChangeAspect="1"/>
          </p:cNvPicPr>
          <p:nvPr/>
        </p:nvPicPr>
        <p:blipFill>
          <a:blip r:embed="rId7"/>
          <a:srcRect t="2324"/>
          <a:stretch>
            <a:fillRect/>
          </a:stretch>
        </p:blipFill>
        <p:spPr>
          <a:xfrm>
            <a:off x="7560945" y="4523105"/>
            <a:ext cx="4502150" cy="2188210"/>
          </a:xfrm>
          <a:prstGeom prst="roundRect">
            <a:avLst/>
          </a:prstGeom>
          <a:ln w="1905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9467020" y="0"/>
            <a:ext cx="2558005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姓名：武旻阳</a:t>
            </a:r>
          </a:p>
          <a:p>
            <a:pPr>
              <a:defRPr sz="12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学号: 3240103636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00000"/>
            <a:ext cx="7132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2B5C"/>
                </a:solidFill>
                <a:latin typeface="微软雅黑" panose="020B0503020204020204" charset="-122"/>
              </a:defRPr>
            </a:pPr>
            <a:r>
              <a:t>D模块实现流程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0000" y="2100000"/>
            <a:ext cx="1700000" cy="1000000"/>
          </a:xfrm>
          <a:prstGeom prst="roundRect">
            <a:avLst/>
          </a:prstGeom>
          <a:gradFill>
            <a:gsLst>
              <a:gs pos="0">
                <a:schemeClr val="accent1">
                  <a:hueOff val="-2520000"/>
                </a:schemeClr>
              </a:gs>
              <a:gs pos="100000">
                <a:schemeClr val="accent1">
                  <a:alpha val="91000"/>
                </a:schemeClr>
              </a:gs>
              <a:gs pos="50000">
                <a:schemeClr val="accent1">
                  <a:lumMod val="75000"/>
                  <a:alpha val="65000"/>
                </a:schemeClr>
              </a:gs>
              <a:gs pos="0">
                <a:schemeClr val="accent1">
                  <a:alpha val="46000"/>
                </a:schemeClr>
              </a:gs>
              <a:gs pos="100000">
                <a:schemeClr val="bg1">
                  <a:lumMod val="85000"/>
                  <a:alpha val="54000"/>
                </a:schemeClr>
              </a:gs>
            </a:gsLst>
            <a:lin ang="27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stA="50000" endA="300" endPos="40000" dist="254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State输入</a:t>
            </a:r>
            <a:br>
              <a:rPr sz="1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sz="1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state.json</a:t>
            </a:r>
            <a:endParaRPr sz="16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Right Arrow 5"/>
          <p:cNvSpPr/>
          <p:nvPr/>
        </p:nvSpPr>
        <p:spPr>
          <a:xfrm>
            <a:off x="2164080" y="2494280"/>
            <a:ext cx="489585" cy="213360"/>
          </a:xfrm>
          <a:prstGeom prst="rightArrow">
            <a:avLst/>
          </a:prstGeom>
          <a:solidFill>
            <a:srgbClr val="66666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stA="50000" endA="300" endPos="40000" dist="254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68185" y="2100000"/>
            <a:ext cx="1699895" cy="1000000"/>
          </a:xfrm>
          <a:prstGeom prst="roundRect">
            <a:avLst/>
          </a:prstGeom>
          <a:gradFill>
            <a:gsLst>
              <a:gs pos="0">
                <a:schemeClr val="accent1">
                  <a:hueOff val="-2520000"/>
                </a:schemeClr>
              </a:gs>
              <a:gs pos="100000">
                <a:schemeClr val="accent1"/>
              </a:gs>
              <a:gs pos="0">
                <a:schemeClr val="accent1"/>
              </a:gs>
              <a:gs pos="100000">
                <a:schemeClr val="accent1">
                  <a:alpha val="91000"/>
                </a:schemeClr>
              </a:gs>
              <a:gs pos="50000">
                <a:srgbClr val="1C4DB2">
                  <a:alpha val="90000"/>
                </a:srgbClr>
              </a:gs>
              <a:gs pos="0">
                <a:schemeClr val="accent1">
                  <a:alpha val="46000"/>
                </a:schemeClr>
              </a:gs>
              <a:gs pos="100000">
                <a:srgbClr val="1C4DB2">
                  <a:alpha val="100000"/>
                </a:srgbClr>
              </a:gs>
            </a:gsLst>
            <a:lin ang="27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stA="50000" endA="300" endPos="40000" dist="254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buClrTx/>
              <a:buSzTx/>
              <a:buFontTx/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Streamlit</a:t>
            </a:r>
            <a:br>
              <a:rPr sz="1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sz="1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加载解析</a:t>
            </a:r>
            <a:endParaRPr sz="16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Right Arrow 7"/>
          <p:cNvSpPr/>
          <p:nvPr/>
        </p:nvSpPr>
        <p:spPr>
          <a:xfrm>
            <a:off x="4720270" y="2570000"/>
            <a:ext cx="80000" cy="6000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86265" y="2100000"/>
            <a:ext cx="1699895" cy="1000000"/>
          </a:xfrm>
          <a:prstGeom prst="roundRect">
            <a:avLst/>
          </a:prstGeom>
          <a:gradFill>
            <a:gsLst>
              <a:gs pos="100000">
                <a:srgbClr val="0086A8"/>
              </a:gs>
              <a:gs pos="0">
                <a:schemeClr val="accent1">
                  <a:hueOff val="-2520000"/>
                </a:schemeClr>
              </a:gs>
              <a:gs pos="0">
                <a:schemeClr val="accent1"/>
              </a:gs>
              <a:gs pos="0">
                <a:schemeClr val="accent1"/>
              </a:gs>
              <a:gs pos="50000">
                <a:srgbClr val="0B3FC3"/>
              </a:gs>
              <a:gs pos="0">
                <a:schemeClr val="accent1">
                  <a:alpha val="79000"/>
                </a:schemeClr>
              </a:gs>
            </a:gsLst>
            <a:lin ang="27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stA="50000" endA="300" endPos="40000" dist="254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buClrTx/>
              <a:buSzTx/>
              <a:buFontTx/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数据处理</a:t>
            </a:r>
            <a:br>
              <a:rPr sz="1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sz="1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(Pandas)</a:t>
            </a:r>
            <a:endParaRPr sz="16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7211470" y="2570000"/>
            <a:ext cx="80000" cy="6000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04125" y="2099945"/>
            <a:ext cx="1830705" cy="1000125"/>
          </a:xfrm>
          <a:prstGeom prst="roundRect">
            <a:avLst/>
          </a:prstGeom>
          <a:gradFill>
            <a:gsLst>
              <a:gs pos="0">
                <a:schemeClr val="accent1">
                  <a:hueOff val="-2520000"/>
                </a:schemeClr>
              </a:gs>
              <a:gs pos="100000">
                <a:schemeClr val="accent1"/>
              </a:gs>
              <a:gs pos="100000">
                <a:srgbClr val="0086A8"/>
              </a:gs>
              <a:gs pos="0">
                <a:schemeClr val="accent1"/>
              </a:gs>
              <a:gs pos="0">
                <a:schemeClr val="accent1"/>
              </a:gs>
              <a:gs pos="0">
                <a:schemeClr val="accent1"/>
              </a:gs>
              <a:gs pos="50000">
                <a:srgbClr val="006680"/>
              </a:gs>
              <a:gs pos="0">
                <a:schemeClr val="accent1">
                  <a:alpha val="79000"/>
                </a:schemeClr>
              </a:gs>
            </a:gsLst>
            <a:lin ang="27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stA="50000" endA="300" endPos="40000" dist="254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buClrTx/>
              <a:buSzTx/>
              <a:buFontTx/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可视化渲染</a:t>
            </a:r>
            <a:br>
              <a:rPr sz="1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sz="1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Matplotlib/</a:t>
            </a:r>
            <a:br>
              <a:rPr sz="1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sz="1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pyvis</a:t>
            </a:r>
            <a:endParaRPr sz="16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10022425" y="2100000"/>
            <a:ext cx="1699895" cy="1000000"/>
          </a:xfrm>
          <a:prstGeom prst="roundRect">
            <a:avLst/>
          </a:prstGeom>
          <a:gradFill>
            <a:gsLst>
              <a:gs pos="0">
                <a:schemeClr val="accent1">
                  <a:hueOff val="-2520000"/>
                </a:schemeClr>
              </a:gs>
              <a:gs pos="0">
                <a:schemeClr val="accent1"/>
              </a:gs>
              <a:gs pos="0">
                <a:schemeClr val="accent1"/>
              </a:gs>
              <a:gs pos="0">
                <a:schemeClr val="accent1"/>
              </a:gs>
              <a:gs pos="0">
                <a:schemeClr val="accent1"/>
              </a:gs>
              <a:gs pos="50000">
                <a:srgbClr val="0086A8"/>
              </a:gs>
              <a:gs pos="0">
                <a:schemeClr val="accent1">
                  <a:alpha val="79000"/>
                </a:schemeClr>
              </a:gs>
            </a:gsLst>
            <a:lin ang="27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stA="50000" endA="300" endPos="40000" dist="254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6大标签页</a:t>
            </a:r>
            <a:br>
              <a:rPr sz="1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sz="1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交互展示</a:t>
            </a:r>
            <a:endParaRPr sz="16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50000" y="3600000"/>
            <a:ext cx="110000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2800"/>
              <a:t>▎</a:t>
            </a:r>
            <a:r>
              <a:rPr sz="2800">
                <a:solidFill>
                  <a:srgbClr val="002B5C"/>
                </a:solidFill>
              </a:rPr>
              <a:t>详细流程说明</a:t>
            </a:r>
            <a:endParaRPr sz="2800">
              <a:solidFill>
                <a:srgbClr val="002B5C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49885" y="4100195"/>
            <a:ext cx="11000105" cy="1300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16" name="TextBox 2"/>
          <p:cNvSpPr txBox="1"/>
          <p:nvPr/>
        </p:nvSpPr>
        <p:spPr>
          <a:xfrm>
            <a:off x="9594020" y="127000"/>
            <a:ext cx="2558005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姓名：武旻阳</a:t>
            </a:r>
          </a:p>
          <a:p>
            <a:pPr>
              <a:defRPr sz="12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学号: 3240103636</a:t>
            </a:r>
          </a:p>
        </p:txBody>
      </p:sp>
      <p:sp>
        <p:nvSpPr>
          <p:cNvPr id="22" name="矩形 21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D4C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pic>
        <p:nvPicPr>
          <p:cNvPr id="23" name="图片 12" descr="logo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895" y="101600"/>
            <a:ext cx="1663700" cy="4819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2" name="文本框 1031"/>
          <p:cNvSpPr txBox="1"/>
          <p:nvPr/>
        </p:nvSpPr>
        <p:spPr>
          <a:xfrm>
            <a:off x="2160270" y="80645"/>
            <a:ext cx="98304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C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模块：前端可视化与现场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Demo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467020" y="-11074"/>
            <a:ext cx="255800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姓名：武旻阳</a:t>
            </a:r>
            <a:endParaRPr lang="en-US" altLang="zh-CN" sz="2000" b="1" dirty="0">
              <a:solidFill>
                <a:schemeClr val="bg1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学号</a:t>
            </a:r>
            <a:r>
              <a:rPr lang="en-US" altLang="zh-CN" sz="2000" b="1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: 3240103636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Right Arrow 5"/>
          <p:cNvSpPr/>
          <p:nvPr/>
        </p:nvSpPr>
        <p:spPr>
          <a:xfrm>
            <a:off x="4638675" y="2494280"/>
            <a:ext cx="489585" cy="213360"/>
          </a:xfrm>
          <a:prstGeom prst="rightArrow">
            <a:avLst/>
          </a:prstGeom>
          <a:solidFill>
            <a:srgbClr val="66666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stA="50000" endA="300" endPos="40000" dist="254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5"/>
          <p:cNvSpPr/>
          <p:nvPr/>
        </p:nvSpPr>
        <p:spPr>
          <a:xfrm>
            <a:off x="7059930" y="2494280"/>
            <a:ext cx="489585" cy="213360"/>
          </a:xfrm>
          <a:prstGeom prst="rightArrow">
            <a:avLst/>
          </a:prstGeom>
          <a:solidFill>
            <a:srgbClr val="66666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stA="50000" endA="300" endPos="40000" dist="254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5"/>
          <p:cNvSpPr/>
          <p:nvPr/>
        </p:nvSpPr>
        <p:spPr>
          <a:xfrm>
            <a:off x="9465310" y="2494280"/>
            <a:ext cx="489585" cy="213360"/>
          </a:xfrm>
          <a:prstGeom prst="rightArrow">
            <a:avLst/>
          </a:prstGeom>
          <a:solidFill>
            <a:srgbClr val="66666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stA="50000" endA="300" endPos="40000" dist="254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Shape 62"/>
          <p:cNvSpPr/>
          <p:nvPr/>
        </p:nvSpPr>
        <p:spPr>
          <a:xfrm>
            <a:off x="407670" y="4368165"/>
            <a:ext cx="10580370" cy="1730375"/>
          </a:xfrm>
          <a:prstGeom prst="roundRect">
            <a:avLst>
              <a:gd name="adj" fmla="val 11111"/>
            </a:avLst>
          </a:prstGeom>
          <a:solidFill>
            <a:srgbClr val="FFF4D8"/>
          </a:solidFill>
          <a:ln w="13970">
            <a:solidFill>
              <a:srgbClr val="D6DAE5"/>
            </a:solidFill>
            <a:prstDash val="solid"/>
          </a:ln>
        </p:spPr>
        <p:txBody>
          <a:bodyPr/>
          <a:p>
            <a:pPr algn="l"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rPr sz="1800">
                <a:sym typeface="+mn-ea"/>
              </a:rPr>
              <a:t>① </a:t>
            </a:r>
            <a:r>
              <a:rPr sz="1800" b="1">
                <a:solidFill>
                  <a:schemeClr val="tx1"/>
                </a:solidFill>
                <a:sym typeface="+mn-ea"/>
              </a:rPr>
              <a:t>Streamlit 启动</a:t>
            </a:r>
            <a:r>
              <a:rPr sz="1800">
                <a:sym typeface="+mn-ea"/>
              </a:rPr>
              <a:t>后自动加载 output_D/demo_state.json（A 模块仿真数据）</a:t>
            </a:r>
            <a:endParaRPr sz="1800">
              <a:sym typeface="+mn-ea"/>
            </a:endParaRPr>
          </a:p>
          <a:p>
            <a:pPr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rPr sz="1800">
                <a:sym typeface="+mn-ea"/>
              </a:rPr>
              <a:t>② 解析 agents / messages / relationships / debate / metrics / timeline 字段</a:t>
            </a:r>
            <a:endParaRPr sz="1800">
              <a:sym typeface="+mn-ea"/>
            </a:endParaRPr>
          </a:p>
          <a:p>
            <a:pPr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rPr sz="1800">
                <a:sym typeface="+mn-ea"/>
              </a:rPr>
              <a:t>③ 利用 </a:t>
            </a:r>
            <a:r>
              <a:rPr sz="1800" b="1">
                <a:solidFill>
                  <a:schemeClr val="tx1"/>
                </a:solidFill>
                <a:sym typeface="+mn-ea"/>
              </a:rPr>
              <a:t>Pandas 进行数据预处理</a:t>
            </a:r>
            <a:r>
              <a:rPr sz="1800">
                <a:sym typeface="+mn-ea"/>
              </a:rPr>
              <a:t>：agent 表格、消息按时间步过滤、观点统计</a:t>
            </a:r>
            <a:endParaRPr sz="1800">
              <a:sym typeface="+mn-ea"/>
            </a:endParaRPr>
          </a:p>
          <a:p>
            <a:pPr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rPr sz="1800">
                <a:sym typeface="+mn-ea"/>
              </a:rPr>
              <a:t>④ 通过 </a:t>
            </a:r>
            <a:r>
              <a:rPr sz="1800" b="1">
                <a:solidFill>
                  <a:schemeClr val="tx1"/>
                </a:solidFill>
                <a:sym typeface="+mn-ea"/>
              </a:rPr>
              <a:t>Matplotlib、NetworkX、pyvis</a:t>
            </a:r>
            <a:r>
              <a:rPr sz="1800">
                <a:sym typeface="+mn-ea"/>
              </a:rPr>
              <a:t> 渲染</a:t>
            </a:r>
            <a:r>
              <a:rPr sz="1800" b="1">
                <a:solidFill>
                  <a:schemeClr val="tx1"/>
                </a:solidFill>
                <a:sym typeface="+mn-ea"/>
              </a:rPr>
              <a:t>可视化</a:t>
            </a:r>
            <a:r>
              <a:rPr sz="1800">
                <a:sym typeface="+mn-ea"/>
              </a:rPr>
              <a:t>图表</a:t>
            </a:r>
            <a:endParaRPr sz="1800">
              <a:sym typeface="+mn-ea"/>
            </a:endParaRPr>
          </a:p>
          <a:p>
            <a:pPr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rPr sz="1800">
                <a:sym typeface="+mn-ea"/>
              </a:rPr>
              <a:t>⑤ </a:t>
            </a:r>
            <a:r>
              <a:rPr sz="1800" b="1">
                <a:solidFill>
                  <a:schemeClr val="tx1"/>
                </a:solidFill>
                <a:sym typeface="+mn-ea"/>
              </a:rPr>
              <a:t>侧边栏支持上传任意 state.json 文件</a:t>
            </a:r>
            <a:r>
              <a:rPr sz="1800">
                <a:sym typeface="+mn-ea"/>
              </a:rPr>
              <a:t>，实现动态加载与实时展示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9467020" y="0"/>
            <a:ext cx="2558005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姓名：武旻阳</a:t>
            </a:r>
          </a:p>
          <a:p>
            <a:pPr>
              <a:defRPr sz="12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学号: 3240103636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00000"/>
            <a:ext cx="7132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2B5C"/>
                </a:solidFill>
                <a:latin typeface="微软雅黑" panose="020B0503020204020204" charset="-122"/>
              </a:defRPr>
            </a:pPr>
            <a:r>
              <a:t>创新点设计</a:t>
            </a:r>
          </a:p>
        </p:txBody>
      </p:sp>
      <p:sp>
        <p:nvSpPr>
          <p:cNvPr id="5" name="Rounded Rectangle 4"/>
          <p:cNvSpPr/>
          <p:nvPr>
            <p:custDataLst>
              <p:tags r:id="rId1"/>
            </p:custDataLst>
          </p:nvPr>
        </p:nvSpPr>
        <p:spPr>
          <a:xfrm>
            <a:off x="300000" y="1800000"/>
            <a:ext cx="5700000" cy="2100000"/>
          </a:xfrm>
          <a:prstGeom prst="roundRect">
            <a:avLst/>
          </a:prstGeom>
          <a:solidFill>
            <a:srgbClr val="EF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>
            <p:custDataLst>
              <p:tags r:id="rId2"/>
            </p:custDataLst>
          </p:nvPr>
        </p:nvSpPr>
        <p:spPr>
          <a:xfrm>
            <a:off x="300000" y="1800000"/>
            <a:ext cx="5700000" cy="36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>
            <p:custDataLst>
              <p:tags r:id="rId3"/>
            </p:custDataLst>
          </p:nvPr>
        </p:nvSpPr>
        <p:spPr>
          <a:xfrm>
            <a:off x="480060" y="1920240"/>
            <a:ext cx="69024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ECC71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>
            <p:custDataLst>
              <p:tags r:id="rId4"/>
            </p:custDataLst>
          </p:nvPr>
        </p:nvSpPr>
        <p:spPr>
          <a:xfrm>
            <a:off x="1060390" y="1954230"/>
            <a:ext cx="53400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Opinion-Driven Visualization</a:t>
            </a:r>
            <a:r>
              <a:rPr lang="en-US"/>
              <a:t> | </a:t>
            </a:r>
            <a:r>
              <a:t>观点驱动可视化</a:t>
            </a:r>
          </a:p>
        </p:txBody>
      </p:sp>
      <p:sp>
        <p:nvSpPr>
          <p:cNvPr id="9" name="TextBox 8"/>
          <p:cNvSpPr txBox="1"/>
          <p:nvPr>
            <p:custDataLst>
              <p:tags r:id="rId5"/>
            </p:custDataLst>
          </p:nvPr>
        </p:nvSpPr>
        <p:spPr>
          <a:xfrm>
            <a:off x="480000" y="2720180"/>
            <a:ext cx="5340000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rPr sz="1800">
                <a:solidFill>
                  <a:schemeClr val="tx1"/>
                </a:solidFill>
              </a:rPr>
              <a:t>Agent 节点颜色根据</a:t>
            </a:r>
            <a:r>
              <a:rPr sz="1800" b="1">
                <a:solidFill>
                  <a:schemeClr val="tx1"/>
                </a:solidFill>
              </a:rPr>
              <a:t>观点状态</a:t>
            </a:r>
            <a:r>
              <a:rPr sz="1800">
                <a:solidFill>
                  <a:schemeClr val="tx1"/>
                </a:solidFill>
              </a:rPr>
              <a:t>（相信/不相信/观望）动态映射为</a:t>
            </a:r>
            <a:r>
              <a:rPr sz="1800" b="1">
                <a:solidFill>
                  <a:schemeClr val="tx1"/>
                </a:solidFill>
              </a:rPr>
              <a:t>绿色/红色/灰色</a:t>
            </a:r>
            <a:r>
              <a:rPr sz="1800">
                <a:solidFill>
                  <a:schemeClr val="tx1"/>
                </a:solidFill>
              </a:rPr>
              <a:t>，社交关系图中边的</a:t>
            </a:r>
            <a:r>
              <a:rPr sz="1800" b="1">
                <a:solidFill>
                  <a:schemeClr val="tx1"/>
                </a:solidFill>
              </a:rPr>
              <a:t>粗细代表信任强度</a:t>
            </a:r>
            <a:r>
              <a:rPr sz="1800">
                <a:solidFill>
                  <a:schemeClr val="tx1"/>
                </a:solidFill>
              </a:rPr>
              <a:t>，实现一目了然的群体态势感知。</a:t>
            </a:r>
            <a:endParaRPr sz="1800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>
            <p:custDataLst>
              <p:tags r:id="rId6"/>
            </p:custDataLst>
          </p:nvPr>
        </p:nvSpPr>
        <p:spPr>
          <a:xfrm>
            <a:off x="6300000" y="1800000"/>
            <a:ext cx="5700000" cy="2100000"/>
          </a:xfrm>
          <a:prstGeom prst="roundRect">
            <a:avLst/>
          </a:prstGeom>
          <a:solidFill>
            <a:srgbClr val="EF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>
            <p:custDataLst>
              <p:tags r:id="rId7"/>
            </p:custDataLst>
          </p:nvPr>
        </p:nvSpPr>
        <p:spPr>
          <a:xfrm>
            <a:off x="6300000" y="1800000"/>
            <a:ext cx="5700000" cy="36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>
            <p:custDataLst>
              <p:tags r:id="rId8"/>
            </p:custDataLst>
          </p:nvPr>
        </p:nvSpPr>
        <p:spPr>
          <a:xfrm>
            <a:off x="6480175" y="1920240"/>
            <a:ext cx="100457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73E8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>
            <p:custDataLst>
              <p:tags r:id="rId9"/>
            </p:custDataLst>
          </p:nvPr>
        </p:nvSpPr>
        <p:spPr>
          <a:xfrm>
            <a:off x="7175960" y="1969470"/>
            <a:ext cx="53400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Dual-Mode Social Graph</a:t>
            </a:r>
            <a:r>
              <a:rPr lang="en-US"/>
              <a:t>  |  </a:t>
            </a:r>
            <a:r>
              <a:t>双模式社交图</a:t>
            </a:r>
          </a:p>
        </p:txBody>
      </p:sp>
      <p:sp>
        <p:nvSpPr>
          <p:cNvPr id="14" name="TextBox 13"/>
          <p:cNvSpPr txBox="1"/>
          <p:nvPr>
            <p:custDataLst>
              <p:tags r:id="rId10"/>
            </p:custDataLst>
          </p:nvPr>
        </p:nvSpPr>
        <p:spPr>
          <a:xfrm>
            <a:off x="6480000" y="2713195"/>
            <a:ext cx="5340000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lrTx/>
              <a:buSzTx/>
              <a:buFontTx/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rPr sz="1800">
                <a:solidFill>
                  <a:schemeClr val="tx1"/>
                </a:solidFill>
              </a:rPr>
              <a:t>同时支持 NetworkX 静态图与 pyvis 交互式网络图，用户</a:t>
            </a:r>
            <a:r>
              <a:rPr sz="1800" b="1">
                <a:solidFill>
                  <a:schemeClr val="tx1"/>
                </a:solidFill>
              </a:rPr>
              <a:t>可一键切换</a:t>
            </a:r>
            <a:r>
              <a:rPr sz="1800">
                <a:solidFill>
                  <a:schemeClr val="tx1"/>
                </a:solidFill>
              </a:rPr>
              <a:t>：静态模式下快速概览全局关系，交互模式下</a:t>
            </a:r>
            <a:r>
              <a:rPr sz="1800" b="1">
                <a:solidFill>
                  <a:schemeClr val="tx1"/>
                </a:solidFill>
              </a:rPr>
              <a:t>拖拽节点、缩放查看</a:t>
            </a:r>
            <a:r>
              <a:rPr sz="1800">
                <a:solidFill>
                  <a:schemeClr val="tx1"/>
                </a:solidFill>
              </a:rPr>
              <a:t> Agent 间信任链路。</a:t>
            </a:r>
            <a:endParaRPr sz="1800">
              <a:solidFill>
                <a:schemeClr val="tx1"/>
              </a:solidFill>
            </a:endParaRPr>
          </a:p>
        </p:txBody>
      </p:sp>
      <p:sp>
        <p:nvSpPr>
          <p:cNvPr id="15" name="Rounded Rectangle 14"/>
          <p:cNvSpPr/>
          <p:nvPr>
            <p:custDataLst>
              <p:tags r:id="rId11"/>
            </p:custDataLst>
          </p:nvPr>
        </p:nvSpPr>
        <p:spPr>
          <a:xfrm>
            <a:off x="300000" y="4200000"/>
            <a:ext cx="5700000" cy="2100000"/>
          </a:xfrm>
          <a:prstGeom prst="roundRect">
            <a:avLst/>
          </a:prstGeom>
          <a:solidFill>
            <a:srgbClr val="EF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>
            <p:custDataLst>
              <p:tags r:id="rId12"/>
            </p:custDataLst>
          </p:nvPr>
        </p:nvSpPr>
        <p:spPr>
          <a:xfrm>
            <a:off x="300000" y="4200000"/>
            <a:ext cx="5700000" cy="36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>
            <p:custDataLst>
              <p:tags r:id="rId13"/>
            </p:custDataLst>
          </p:nvPr>
        </p:nvSpPr>
        <p:spPr>
          <a:xfrm>
            <a:off x="480060" y="4319905"/>
            <a:ext cx="82867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74C3C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>
            <p:custDataLst>
              <p:tags r:id="rId14"/>
            </p:custDataLst>
          </p:nvPr>
        </p:nvSpPr>
        <p:spPr>
          <a:xfrm>
            <a:off x="1170245" y="4366295"/>
            <a:ext cx="53400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Timeline Replay</a:t>
            </a:r>
            <a:r>
              <a:rPr lang="en-US"/>
              <a:t>  |  </a:t>
            </a:r>
            <a:r>
              <a:t>时间线回放</a:t>
            </a:r>
          </a:p>
        </p:txBody>
      </p:sp>
      <p:sp>
        <p:nvSpPr>
          <p:cNvPr id="19" name="TextBox 18"/>
          <p:cNvSpPr txBox="1"/>
          <p:nvPr>
            <p:custDataLst>
              <p:tags r:id="rId15"/>
            </p:custDataLst>
          </p:nvPr>
        </p:nvSpPr>
        <p:spPr>
          <a:xfrm>
            <a:off x="480000" y="5117005"/>
            <a:ext cx="5340000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rPr sz="1800">
                <a:solidFill>
                  <a:schemeClr val="tx1"/>
                </a:solidFill>
              </a:rPr>
              <a:t>用户通过</a:t>
            </a:r>
            <a:r>
              <a:rPr sz="1800" b="1">
                <a:solidFill>
                  <a:schemeClr val="tx1"/>
                </a:solidFill>
              </a:rPr>
              <a:t>下拉菜单选择时间步</a:t>
            </a:r>
            <a:r>
              <a:rPr sz="1800">
                <a:solidFill>
                  <a:schemeClr val="tx1"/>
                </a:solidFill>
              </a:rPr>
              <a:t>，逐轮查看 Agent 的观点状态和消息传播过程，支持按需回放仿真全流程，为现场 Demo 提供</a:t>
            </a:r>
            <a:r>
              <a:rPr sz="1800" b="1">
                <a:solidFill>
                  <a:schemeClr val="tx1"/>
                </a:solidFill>
              </a:rPr>
              <a:t>灵活</a:t>
            </a:r>
            <a:r>
              <a:rPr sz="1800">
                <a:solidFill>
                  <a:schemeClr val="tx1"/>
                </a:solidFill>
              </a:rPr>
              <a:t>的讲解节奏。</a:t>
            </a:r>
            <a:endParaRPr sz="1800">
              <a:solidFill>
                <a:schemeClr val="tx1"/>
              </a:solidFill>
            </a:endParaRPr>
          </a:p>
        </p:txBody>
      </p:sp>
      <p:sp>
        <p:nvSpPr>
          <p:cNvPr id="20" name="Rounded Rectangle 19"/>
          <p:cNvSpPr/>
          <p:nvPr>
            <p:custDataLst>
              <p:tags r:id="rId16"/>
            </p:custDataLst>
          </p:nvPr>
        </p:nvSpPr>
        <p:spPr>
          <a:xfrm>
            <a:off x="6300000" y="4200000"/>
            <a:ext cx="5700000" cy="2100000"/>
          </a:xfrm>
          <a:prstGeom prst="roundRect">
            <a:avLst/>
          </a:prstGeom>
          <a:solidFill>
            <a:srgbClr val="EF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>
            <p:custDataLst>
              <p:tags r:id="rId17"/>
            </p:custDataLst>
          </p:nvPr>
        </p:nvSpPr>
        <p:spPr>
          <a:xfrm>
            <a:off x="6300000" y="4200000"/>
            <a:ext cx="5700000" cy="360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>
            <p:custDataLst>
              <p:tags r:id="rId18"/>
            </p:custDataLst>
          </p:nvPr>
        </p:nvSpPr>
        <p:spPr>
          <a:xfrm>
            <a:off x="6480175" y="4319905"/>
            <a:ext cx="100520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2B5C"/>
                </a:solidFill>
                <a:latin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>
            <p:custDataLst>
              <p:tags r:id="rId19"/>
            </p:custDataLst>
          </p:nvPr>
        </p:nvSpPr>
        <p:spPr>
          <a:xfrm>
            <a:off x="7175960" y="4366295"/>
            <a:ext cx="53400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One-Click Demo</a:t>
            </a:r>
            <a:r>
              <a:rPr lang="en-US"/>
              <a:t>  |  </a:t>
            </a:r>
            <a:r>
              <a:t>一键演示</a:t>
            </a:r>
          </a:p>
        </p:txBody>
      </p:sp>
      <p:sp>
        <p:nvSpPr>
          <p:cNvPr id="24" name="TextBox 23"/>
          <p:cNvSpPr txBox="1"/>
          <p:nvPr>
            <p:custDataLst>
              <p:tags r:id="rId20"/>
            </p:custDataLst>
          </p:nvPr>
        </p:nvSpPr>
        <p:spPr>
          <a:xfrm>
            <a:off x="6480000" y="5117005"/>
            <a:ext cx="5340000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lrTx/>
              <a:buSzTx/>
              <a:buFontTx/>
              <a:defRPr sz="13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rPr sz="1800">
                <a:solidFill>
                  <a:schemeClr val="tx1"/>
                </a:solidFill>
              </a:rPr>
              <a:t>预置 demo_state.json 模拟数据，只需执行 streamlit run 即可启动完整 Demo，</a:t>
            </a:r>
            <a:r>
              <a:rPr sz="1800" b="1">
                <a:solidFill>
                  <a:schemeClr val="tx1"/>
                </a:solidFill>
              </a:rPr>
              <a:t>无需手动准备数据</a:t>
            </a:r>
            <a:r>
              <a:rPr sz="1800">
                <a:solidFill>
                  <a:schemeClr val="tx1"/>
                </a:solidFill>
              </a:rPr>
              <a:t>，适配课程展示现场快速部署。</a:t>
            </a:r>
            <a:endParaRPr sz="1800">
              <a:solidFill>
                <a:schemeClr val="tx1"/>
              </a:solidFill>
            </a:endParaRPr>
          </a:p>
        </p:txBody>
      </p:sp>
      <p:sp>
        <p:nvSpPr>
          <p:cNvPr id="25" name="TextBox 2"/>
          <p:cNvSpPr txBox="1"/>
          <p:nvPr/>
        </p:nvSpPr>
        <p:spPr>
          <a:xfrm>
            <a:off x="9594020" y="127000"/>
            <a:ext cx="2558005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姓名：武旻阳</a:t>
            </a:r>
          </a:p>
          <a:p>
            <a:pPr>
              <a:defRPr sz="12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学号: 3240103636</a:t>
            </a:r>
          </a:p>
        </p:txBody>
      </p:sp>
      <p:sp>
        <p:nvSpPr>
          <p:cNvPr id="26" name="矩形 25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D4C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pic>
        <p:nvPicPr>
          <p:cNvPr id="27" name="图片 12" descr="logo"/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895" y="101600"/>
            <a:ext cx="1663700" cy="4819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2" name="文本框 1031"/>
          <p:cNvSpPr txBox="1"/>
          <p:nvPr/>
        </p:nvSpPr>
        <p:spPr>
          <a:xfrm>
            <a:off x="2160270" y="80645"/>
            <a:ext cx="98304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C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模块：前端可视化与现场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Demo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467020" y="-11074"/>
            <a:ext cx="255800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姓名：</a:t>
            </a:r>
            <a:r>
              <a:rPr lang="zh-CN" sz="2000" b="1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武旻阳</a:t>
            </a:r>
            <a:endParaRPr lang="zh-CN" sz="2000" b="1" dirty="0">
              <a:solidFill>
                <a:schemeClr val="bg1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学号</a:t>
            </a:r>
            <a:r>
              <a:rPr lang="en-US" altLang="zh-CN" sz="2000" b="1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: 3240103636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9467020" y="0"/>
            <a:ext cx="2558005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姓名：武旻阳</a:t>
            </a:r>
          </a:p>
          <a:p>
            <a:pPr>
              <a:defRPr sz="12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学号: 3240103636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00000"/>
            <a:ext cx="7132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2B5C"/>
                </a:solidFill>
                <a:latin typeface="微软雅黑" panose="020B0503020204020204" charset="-122"/>
              </a:defRPr>
            </a:pPr>
            <a:r>
              <a:t>创新点总结与模块价值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9365" y="2080035"/>
            <a:ext cx="2700000" cy="110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9415" y="1925955"/>
            <a:ext cx="2700020" cy="484505"/>
          </a:xfrm>
          <a:prstGeom prst="roundRect">
            <a:avLst/>
          </a:prstGeom>
          <a:gradFill>
            <a:gsLst>
              <a:gs pos="50000">
                <a:srgbClr val="6B8FD5">
                  <a:alpha val="24000"/>
                </a:srgbClr>
              </a:gs>
              <a:gs pos="0">
                <a:schemeClr val="accent1">
                  <a:lumOff val="17500"/>
                  <a:alpha val="46000"/>
                </a:schemeClr>
              </a:gs>
              <a:gs pos="100000">
                <a:schemeClr val="bg1">
                  <a:lumMod val="85000"/>
                  <a:alpha val="54000"/>
                </a:schemeClr>
              </a:gs>
            </a:gsLst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rPr sz="1800" b="1"/>
              <a:t>功能标签页</a:t>
            </a:r>
            <a:endParaRPr sz="1800" b="1"/>
          </a:p>
        </p:txBody>
      </p:sp>
      <p:sp>
        <p:nvSpPr>
          <p:cNvPr id="7" name="TextBox 6"/>
          <p:cNvSpPr txBox="1"/>
          <p:nvPr/>
        </p:nvSpPr>
        <p:spPr>
          <a:xfrm>
            <a:off x="399365" y="2441945"/>
            <a:ext cx="2700000" cy="510087"/>
          </a:xfrm>
          <a:prstGeom prst="roundRect">
            <a:avLst/>
          </a:prstGeom>
          <a:gradFill>
            <a:gsLst>
              <a:gs pos="50000">
                <a:srgbClr val="6B8FD5">
                  <a:alpha val="24000"/>
                </a:srgbClr>
              </a:gs>
              <a:gs pos="0">
                <a:schemeClr val="accent1">
                  <a:lumOff val="17500"/>
                  <a:alpha val="46000"/>
                </a:schemeClr>
              </a:gs>
              <a:gs pos="100000">
                <a:schemeClr val="bg1">
                  <a:lumMod val="85000"/>
                  <a:alpha val="54000"/>
                </a:schemeClr>
              </a:gs>
            </a:gsLst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A73E8"/>
                </a:solidFill>
                <a:latin typeface="微软雅黑" panose="020B0503020204020204" charset="-122"/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79365" y="2080035"/>
            <a:ext cx="2700000" cy="110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79140" y="1925320"/>
            <a:ext cx="2700020" cy="485140"/>
          </a:xfrm>
          <a:prstGeom prst="roundRect">
            <a:avLst/>
          </a:prstGeom>
          <a:gradFill>
            <a:gsLst>
              <a:gs pos="50000">
                <a:srgbClr val="6B8FD5">
                  <a:alpha val="24000"/>
                </a:srgbClr>
              </a:gs>
              <a:gs pos="0">
                <a:schemeClr val="accent1">
                  <a:lumOff val="17500"/>
                  <a:alpha val="46000"/>
                </a:schemeClr>
              </a:gs>
              <a:gs pos="100000">
                <a:schemeClr val="bg1">
                  <a:lumMod val="85000"/>
                  <a:alpha val="54000"/>
                </a:schemeClr>
              </a:gs>
            </a:gsLst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rPr sz="1800" b="1"/>
              <a:t>可视化维度</a:t>
            </a:r>
            <a:endParaRPr sz="1800" b="1"/>
          </a:p>
        </p:txBody>
      </p:sp>
      <p:sp>
        <p:nvSpPr>
          <p:cNvPr id="10" name="TextBox 9"/>
          <p:cNvSpPr txBox="1"/>
          <p:nvPr/>
        </p:nvSpPr>
        <p:spPr>
          <a:xfrm>
            <a:off x="3279365" y="2448930"/>
            <a:ext cx="2700000" cy="510087"/>
          </a:xfrm>
          <a:prstGeom prst="roundRect">
            <a:avLst/>
          </a:prstGeom>
          <a:gradFill>
            <a:gsLst>
              <a:gs pos="50000">
                <a:srgbClr val="6B8FD5">
                  <a:alpha val="24000"/>
                </a:srgbClr>
              </a:gs>
              <a:gs pos="0">
                <a:schemeClr val="accent1">
                  <a:lumOff val="17500"/>
                  <a:alpha val="46000"/>
                </a:schemeClr>
              </a:gs>
              <a:gs pos="100000">
                <a:schemeClr val="bg1">
                  <a:lumMod val="85000"/>
                  <a:alpha val="54000"/>
                </a:schemeClr>
              </a:gs>
            </a:gsLst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ECC71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accent4">
                    <a:lumMod val="50000"/>
                  </a:schemeClr>
                </a:solidFill>
              </a:rPr>
              <a:t>4+</a:t>
            </a:r>
            <a:endParaRPr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159365" y="2080035"/>
            <a:ext cx="2700000" cy="110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59500" y="1925955"/>
            <a:ext cx="2700020" cy="484505"/>
          </a:xfrm>
          <a:prstGeom prst="roundRect">
            <a:avLst/>
          </a:prstGeom>
          <a:gradFill>
            <a:gsLst>
              <a:gs pos="50000">
                <a:srgbClr val="6B8FD5">
                  <a:alpha val="24000"/>
                </a:srgbClr>
              </a:gs>
              <a:gs pos="0">
                <a:schemeClr val="accent1">
                  <a:lumOff val="17500"/>
                  <a:alpha val="46000"/>
                </a:schemeClr>
              </a:gs>
              <a:gs pos="100000">
                <a:schemeClr val="bg1">
                  <a:lumMod val="85000"/>
                  <a:alpha val="54000"/>
                </a:schemeClr>
              </a:gs>
            </a:gsLst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rPr sz="1800" b="1"/>
              <a:t>自测 Agent 数</a:t>
            </a:r>
            <a:endParaRPr sz="1800" b="1"/>
          </a:p>
        </p:txBody>
      </p:sp>
      <p:sp>
        <p:nvSpPr>
          <p:cNvPr id="13" name="TextBox 12"/>
          <p:cNvSpPr txBox="1"/>
          <p:nvPr/>
        </p:nvSpPr>
        <p:spPr>
          <a:xfrm>
            <a:off x="6159365" y="2448930"/>
            <a:ext cx="2700000" cy="510087"/>
          </a:xfrm>
          <a:prstGeom prst="roundRect">
            <a:avLst/>
          </a:prstGeom>
          <a:gradFill>
            <a:gsLst>
              <a:gs pos="50000">
                <a:srgbClr val="6B8FD5">
                  <a:alpha val="24000"/>
                </a:srgbClr>
              </a:gs>
              <a:gs pos="0">
                <a:schemeClr val="accent1">
                  <a:lumOff val="17500"/>
                  <a:alpha val="46000"/>
                </a:schemeClr>
              </a:gs>
              <a:gs pos="100000">
                <a:schemeClr val="bg1">
                  <a:lumMod val="85000"/>
                  <a:alpha val="54000"/>
                </a:schemeClr>
              </a:gs>
            </a:gsLst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74C3C"/>
                </a:solidFill>
                <a:latin typeface="微软雅黑" panose="020B0503020204020204" charset="-122"/>
              </a:defRPr>
            </a:pPr>
            <a: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39365" y="2080035"/>
            <a:ext cx="2700000" cy="110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39225" y="1925320"/>
            <a:ext cx="2700020" cy="485140"/>
          </a:xfrm>
          <a:prstGeom prst="roundRect">
            <a:avLst/>
          </a:prstGeom>
          <a:gradFill>
            <a:gsLst>
              <a:gs pos="50000">
                <a:srgbClr val="6B8FD5">
                  <a:alpha val="24000"/>
                </a:srgbClr>
              </a:gs>
              <a:gs pos="0">
                <a:schemeClr val="accent1">
                  <a:lumOff val="17500"/>
                  <a:alpha val="46000"/>
                </a:schemeClr>
              </a:gs>
              <a:gs pos="100000">
                <a:schemeClr val="bg1">
                  <a:lumMod val="85000"/>
                  <a:alpha val="54000"/>
                </a:schemeClr>
              </a:gs>
            </a:gsLst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rPr sz="1800" b="1"/>
              <a:t>一键启动</a:t>
            </a:r>
            <a:endParaRPr sz="1800" b="1"/>
          </a:p>
        </p:txBody>
      </p:sp>
      <p:sp>
        <p:nvSpPr>
          <p:cNvPr id="16" name="TextBox 15"/>
          <p:cNvSpPr txBox="1"/>
          <p:nvPr/>
        </p:nvSpPr>
        <p:spPr>
          <a:xfrm>
            <a:off x="9039365" y="2455915"/>
            <a:ext cx="2700000" cy="510087"/>
          </a:xfrm>
          <a:prstGeom prst="roundRect">
            <a:avLst/>
          </a:prstGeom>
          <a:gradFill>
            <a:gsLst>
              <a:gs pos="50000">
                <a:srgbClr val="6B8FD5">
                  <a:alpha val="24000"/>
                </a:srgbClr>
              </a:gs>
              <a:gs pos="0">
                <a:schemeClr val="accent1">
                  <a:lumOff val="17500"/>
                  <a:alpha val="46000"/>
                </a:schemeClr>
              </a:gs>
              <a:gs pos="100000">
                <a:schemeClr val="bg1">
                  <a:lumMod val="85000"/>
                  <a:alpha val="54000"/>
                </a:schemeClr>
              </a:gs>
            </a:gsLst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2B5C"/>
                </a:solidFill>
                <a:latin typeface="微软雅黑" panose="020B0503020204020204" charset="-122"/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0000" y="3300000"/>
            <a:ext cx="5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▎创新点核心价值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5625" y="3300000"/>
            <a:ext cx="5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▎模块产出示意图</a:t>
            </a:r>
          </a:p>
        </p:txBody>
      </p:sp>
      <p:sp>
        <p:nvSpPr>
          <p:cNvPr id="23" name="TextBox 2"/>
          <p:cNvSpPr txBox="1"/>
          <p:nvPr/>
        </p:nvSpPr>
        <p:spPr>
          <a:xfrm>
            <a:off x="9594020" y="127000"/>
            <a:ext cx="2558005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姓名：武旻阳</a:t>
            </a:r>
          </a:p>
          <a:p>
            <a:pPr>
              <a:defRPr sz="12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学号: 3240103636</a:t>
            </a:r>
          </a:p>
        </p:txBody>
      </p:sp>
      <p:sp>
        <p:nvSpPr>
          <p:cNvPr id="24" name="矩形 23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D4C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pic>
        <p:nvPicPr>
          <p:cNvPr id="25" name="图片 12" descr="logo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895" y="101600"/>
            <a:ext cx="1663700" cy="4819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2" name="文本框 1031"/>
          <p:cNvSpPr txBox="1"/>
          <p:nvPr/>
        </p:nvSpPr>
        <p:spPr>
          <a:xfrm>
            <a:off x="2160270" y="80645"/>
            <a:ext cx="98304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C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模块：前端可视化与现场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Demo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467020" y="-11074"/>
            <a:ext cx="255800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姓名：武旻阳</a:t>
            </a:r>
            <a:endParaRPr lang="en-US" altLang="zh-CN" sz="2000" b="1" dirty="0">
              <a:solidFill>
                <a:schemeClr val="bg1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学号</a:t>
            </a:r>
            <a:r>
              <a:rPr lang="en-US" altLang="zh-CN" sz="2000" b="1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: 3240103636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" name="Shape 16"/>
          <p:cNvSpPr/>
          <p:nvPr/>
        </p:nvSpPr>
        <p:spPr>
          <a:xfrm>
            <a:off x="302895" y="3820795"/>
            <a:ext cx="6274435" cy="2715260"/>
          </a:xfrm>
          <a:prstGeom prst="roundRect">
            <a:avLst>
              <a:gd name="adj" fmla="val 5714"/>
            </a:avLst>
          </a:prstGeom>
          <a:solidFill>
            <a:srgbClr val="F8FAFD"/>
          </a:solidFill>
          <a:ln w="13970">
            <a:solidFill>
              <a:srgbClr val="D7DEEA"/>
            </a:solidFill>
            <a:prstDash val="solid"/>
          </a:ln>
        </p:spPr>
        <p:txBody>
          <a:bodyPr/>
          <a:p>
            <a:pPr algn="l">
              <a:defRPr sz="15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800">
                <a:sym typeface="+mn-ea"/>
              </a:rPr>
              <a:t>✦ 观点驱动：颜色编码让群体观点分布一目了然</a:t>
            </a:r>
            <a:endParaRPr sz="1800">
              <a:sym typeface="+mn-ea"/>
            </a:endParaRPr>
          </a:p>
          <a:p>
            <a:pPr algn="l">
              <a:defRPr sz="1500" b="0">
                <a:solidFill>
                  <a:srgbClr val="333333"/>
                </a:solidFill>
                <a:latin typeface="微软雅黑" panose="020B0503020204020204" charset="-122"/>
              </a:defRPr>
            </a:pPr>
            <a:endParaRPr sz="1800">
              <a:sym typeface="+mn-ea"/>
            </a:endParaRPr>
          </a:p>
          <a:p>
            <a:pPr>
              <a:defRPr sz="15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800">
                <a:sym typeface="+mn-ea"/>
              </a:rPr>
              <a:t>✦ 双模式图：兼顾全局概览与交互探索</a:t>
            </a:r>
            <a:endParaRPr sz="1800">
              <a:sym typeface="+mn-ea"/>
            </a:endParaRPr>
          </a:p>
          <a:p>
            <a:pPr>
              <a:defRPr sz="1500" b="0">
                <a:solidFill>
                  <a:srgbClr val="333333"/>
                </a:solidFill>
                <a:latin typeface="微软雅黑" panose="020B0503020204020204" charset="-122"/>
              </a:defRPr>
            </a:pPr>
            <a:endParaRPr sz="1800">
              <a:sym typeface="+mn-ea"/>
            </a:endParaRPr>
          </a:p>
          <a:p>
            <a:pPr>
              <a:defRPr sz="15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800">
                <a:sym typeface="+mn-ea"/>
              </a:rPr>
              <a:t>✦ 时间回放：支持分步讲解，适配现场演示节奏</a:t>
            </a:r>
            <a:endParaRPr sz="1800">
              <a:sym typeface="+mn-ea"/>
            </a:endParaRPr>
          </a:p>
          <a:p>
            <a:pPr>
              <a:defRPr sz="1500" b="0">
                <a:solidFill>
                  <a:srgbClr val="333333"/>
                </a:solidFill>
                <a:latin typeface="微软雅黑" panose="020B0503020204020204" charset="-122"/>
              </a:defRPr>
            </a:pPr>
            <a:endParaRPr sz="1800">
              <a:sym typeface="+mn-ea"/>
            </a:endParaRPr>
          </a:p>
          <a:p>
            <a:pPr>
              <a:defRPr sz="15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800">
                <a:sym typeface="+mn-ea"/>
              </a:rPr>
              <a:t>✦ 即开即用：零配置启动，降低课程展示门槛</a:t>
            </a:r>
            <a:endParaRPr sz="1800">
              <a:sym typeface="+mn-ea"/>
            </a:endParaRPr>
          </a:p>
          <a:p>
            <a:pPr>
              <a:defRPr sz="1500" b="0">
                <a:solidFill>
                  <a:srgbClr val="333333"/>
                </a:solidFill>
                <a:latin typeface="微软雅黑" panose="020B0503020204020204" charset="-122"/>
              </a:defRPr>
            </a:pPr>
            <a:endParaRPr sz="1800">
              <a:sym typeface="+mn-ea"/>
            </a:endParaRPr>
          </a:p>
          <a:p>
            <a:pPr>
              <a:defRPr sz="15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rPr sz="1800">
                <a:sym typeface="+mn-ea"/>
              </a:rPr>
              <a:t>✦ 模块解耦：通过统一 state.json 接口与 A/B/C 模块协作</a:t>
            </a:r>
            <a:endParaRPr lang="zh-CN" altLang="en-US"/>
          </a:p>
        </p:txBody>
      </p:sp>
      <p:pic>
        <p:nvPicPr>
          <p:cNvPr id="29" name="图片 28" descr="rel_graph"/>
          <p:cNvPicPr>
            <a:picLocks noChangeAspect="1"/>
          </p:cNvPicPr>
          <p:nvPr/>
        </p:nvPicPr>
        <p:blipFill>
          <a:blip r:embed="rId2"/>
          <a:srcRect l="9423" t="29338" r="47157" b="9290"/>
          <a:stretch>
            <a:fillRect/>
          </a:stretch>
        </p:blipFill>
        <p:spPr>
          <a:xfrm>
            <a:off x="6882130" y="3614420"/>
            <a:ext cx="1616075" cy="1341120"/>
          </a:xfrm>
          <a:prstGeom prst="rect">
            <a:avLst/>
          </a:prstGeom>
        </p:spPr>
      </p:pic>
      <p:pic>
        <p:nvPicPr>
          <p:cNvPr id="31" name="图片 30" descr="start"/>
          <p:cNvPicPr>
            <a:picLocks noChangeAspect="1"/>
          </p:cNvPicPr>
          <p:nvPr/>
        </p:nvPicPr>
        <p:blipFill>
          <a:blip r:embed="rId3"/>
          <a:srcRect l="21589" t="37031" r="3714" b="20735"/>
          <a:stretch>
            <a:fillRect/>
          </a:stretch>
        </p:blipFill>
        <p:spPr>
          <a:xfrm>
            <a:off x="6882130" y="5189220"/>
            <a:ext cx="5022850" cy="1416050"/>
          </a:xfrm>
          <a:prstGeom prst="rect">
            <a:avLst/>
          </a:prstGeom>
        </p:spPr>
      </p:pic>
      <p:pic>
        <p:nvPicPr>
          <p:cNvPr id="32" name="图片 31"/>
          <p:cNvPicPr/>
          <p:nvPr/>
        </p:nvPicPr>
        <p:blipFill>
          <a:blip r:embed="rId4"/>
          <a:srcRect l="33217"/>
          <a:stretch>
            <a:fillRect/>
          </a:stretch>
        </p:blipFill>
        <p:spPr>
          <a:xfrm>
            <a:off x="8498205" y="3820160"/>
            <a:ext cx="3328670" cy="124269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DIAGRAM_VIRTUALLY_FRAME" val="{&quot;height&quot;:354.33070866141736,&quot;left&quot;:23.62204724409449,&quot;top&quot;:141.73228346456693,&quot;width&quot;:961.8866141732284}"/>
</p:tagLst>
</file>

<file path=ppt/tags/tag64.xml><?xml version="1.0" encoding="utf-8"?>
<p:tagLst xmlns:p="http://schemas.openxmlformats.org/presentationml/2006/main">
  <p:tag name="KSO_WM_DIAGRAM_VIRTUALLY_FRAME" val="{&quot;height&quot;:354.33070866141736,&quot;left&quot;:23.62204724409449,&quot;top&quot;:141.73228346456693,&quot;width&quot;:961.8866141732284}"/>
</p:tagLst>
</file>

<file path=ppt/tags/tag65.xml><?xml version="1.0" encoding="utf-8"?>
<p:tagLst xmlns:p="http://schemas.openxmlformats.org/presentationml/2006/main">
  <p:tag name="KSO_WM_DIAGRAM_VIRTUALLY_FRAME" val="{&quot;height&quot;:354.33070866141736,&quot;left&quot;:23.62204724409449,&quot;top&quot;:141.73228346456693,&quot;width&quot;:961.8866141732284}"/>
</p:tagLst>
</file>

<file path=ppt/tags/tag66.xml><?xml version="1.0" encoding="utf-8"?>
<p:tagLst xmlns:p="http://schemas.openxmlformats.org/presentationml/2006/main">
  <p:tag name="KSO_WM_DIAGRAM_VIRTUALLY_FRAME" val="{&quot;height&quot;:354.33070866141736,&quot;left&quot;:23.62204724409449,&quot;top&quot;:141.73228346456693,&quot;width&quot;:961.8866141732284}"/>
</p:tagLst>
</file>

<file path=ppt/tags/tag67.xml><?xml version="1.0" encoding="utf-8"?>
<p:tagLst xmlns:p="http://schemas.openxmlformats.org/presentationml/2006/main">
  <p:tag name="KSO_WM_DIAGRAM_VIRTUALLY_FRAME" val="{&quot;height&quot;:354.33070866141736,&quot;left&quot;:23.62204724409449,&quot;top&quot;:141.73228346456693,&quot;width&quot;:961.8866141732284}"/>
</p:tagLst>
</file>

<file path=ppt/tags/tag68.xml><?xml version="1.0" encoding="utf-8"?>
<p:tagLst xmlns:p="http://schemas.openxmlformats.org/presentationml/2006/main">
  <p:tag name="KSO_WM_DIAGRAM_VIRTUALLY_FRAME" val="{&quot;height&quot;:354.33070866141736,&quot;left&quot;:23.62204724409449,&quot;top&quot;:141.73228346456693,&quot;width&quot;:961.8866141732284}"/>
</p:tagLst>
</file>

<file path=ppt/tags/tag69.xml><?xml version="1.0" encoding="utf-8"?>
<p:tagLst xmlns:p="http://schemas.openxmlformats.org/presentationml/2006/main">
  <p:tag name="KSO_WM_DIAGRAM_VIRTUALLY_FRAME" val="{&quot;height&quot;:354.33070866141736,&quot;left&quot;:23.62204724409449,&quot;top&quot;:141.73228346456693,&quot;width&quot;:961.8866141732284}"/>
</p:tagLst>
</file>

<file path=ppt/tags/tag70.xml><?xml version="1.0" encoding="utf-8"?>
<p:tagLst xmlns:p="http://schemas.openxmlformats.org/presentationml/2006/main">
  <p:tag name="KSO_WM_DIAGRAM_VIRTUALLY_FRAME" val="{&quot;height&quot;:354.33070866141736,&quot;left&quot;:23.62204724409449,&quot;top&quot;:141.73228346456693,&quot;width&quot;:961.8866141732284}"/>
</p:tagLst>
</file>

<file path=ppt/tags/tag71.xml><?xml version="1.0" encoding="utf-8"?>
<p:tagLst xmlns:p="http://schemas.openxmlformats.org/presentationml/2006/main">
  <p:tag name="KSO_WM_DIAGRAM_VIRTUALLY_FRAME" val="{&quot;height&quot;:354.33070866141736,&quot;left&quot;:23.62204724409449,&quot;top&quot;:141.73228346456693,&quot;width&quot;:961.8866141732284}"/>
</p:tagLst>
</file>

<file path=ppt/tags/tag72.xml><?xml version="1.0" encoding="utf-8"?>
<p:tagLst xmlns:p="http://schemas.openxmlformats.org/presentationml/2006/main">
  <p:tag name="KSO_WM_DIAGRAM_VIRTUALLY_FRAME" val="{&quot;height&quot;:354.33070866141736,&quot;left&quot;:23.62204724409449,&quot;top&quot;:141.73228346456693,&quot;width&quot;:961.8866141732284}"/>
</p:tagLst>
</file>

<file path=ppt/tags/tag73.xml><?xml version="1.0" encoding="utf-8"?>
<p:tagLst xmlns:p="http://schemas.openxmlformats.org/presentationml/2006/main">
  <p:tag name="KSO_WM_DIAGRAM_VIRTUALLY_FRAME" val="{&quot;height&quot;:354.33070866141736,&quot;left&quot;:23.62204724409449,&quot;top&quot;:141.73228346456693,&quot;width&quot;:961.8866141732284}"/>
</p:tagLst>
</file>

<file path=ppt/tags/tag74.xml><?xml version="1.0" encoding="utf-8"?>
<p:tagLst xmlns:p="http://schemas.openxmlformats.org/presentationml/2006/main">
  <p:tag name="KSO_WM_DIAGRAM_VIRTUALLY_FRAME" val="{&quot;height&quot;:354.33070866141736,&quot;left&quot;:23.62204724409449,&quot;top&quot;:141.73228346456693,&quot;width&quot;:961.8866141732284}"/>
</p:tagLst>
</file>

<file path=ppt/tags/tag75.xml><?xml version="1.0" encoding="utf-8"?>
<p:tagLst xmlns:p="http://schemas.openxmlformats.org/presentationml/2006/main">
  <p:tag name="KSO_WM_DIAGRAM_VIRTUALLY_FRAME" val="{&quot;height&quot;:354.33070866141736,&quot;left&quot;:23.62204724409449,&quot;top&quot;:141.73228346456693,&quot;width&quot;:961.8866141732284}"/>
</p:tagLst>
</file>

<file path=ppt/tags/tag76.xml><?xml version="1.0" encoding="utf-8"?>
<p:tagLst xmlns:p="http://schemas.openxmlformats.org/presentationml/2006/main">
  <p:tag name="KSO_WM_DIAGRAM_VIRTUALLY_FRAME" val="{&quot;height&quot;:354.33070866141736,&quot;left&quot;:23.62204724409449,&quot;top&quot;:141.73228346456693,&quot;width&quot;:961.8866141732284}"/>
</p:tagLst>
</file>

<file path=ppt/tags/tag77.xml><?xml version="1.0" encoding="utf-8"?>
<p:tagLst xmlns:p="http://schemas.openxmlformats.org/presentationml/2006/main">
  <p:tag name="KSO_WM_DIAGRAM_VIRTUALLY_FRAME" val="{&quot;height&quot;:354.33070866141736,&quot;left&quot;:23.62204724409449,&quot;top&quot;:141.73228346456693,&quot;width&quot;:961.8866141732284}"/>
</p:tagLst>
</file>

<file path=ppt/tags/tag78.xml><?xml version="1.0" encoding="utf-8"?>
<p:tagLst xmlns:p="http://schemas.openxmlformats.org/presentationml/2006/main">
  <p:tag name="KSO_WM_DIAGRAM_VIRTUALLY_FRAME" val="{&quot;height&quot;:354.33070866141736,&quot;left&quot;:23.62204724409449,&quot;top&quot;:141.73228346456693,&quot;width&quot;:961.8866141732284}"/>
</p:tagLst>
</file>

<file path=ppt/tags/tag79.xml><?xml version="1.0" encoding="utf-8"?>
<p:tagLst xmlns:p="http://schemas.openxmlformats.org/presentationml/2006/main">
  <p:tag name="KSO_WM_DIAGRAM_VIRTUALLY_FRAME" val="{&quot;height&quot;:354.33070866141736,&quot;left&quot;:23.62204724409449,&quot;top&quot;:141.73228346456693,&quot;width&quot;:961.8866141732284}"/>
</p:tagLst>
</file>

<file path=ppt/tags/tag80.xml><?xml version="1.0" encoding="utf-8"?>
<p:tagLst xmlns:p="http://schemas.openxmlformats.org/presentationml/2006/main">
  <p:tag name="KSO_WM_DIAGRAM_VIRTUALLY_FRAME" val="{&quot;height&quot;:354.33070866141736,&quot;left&quot;:23.62204724409449,&quot;top&quot;:141.73228346456693,&quot;width&quot;:961.8866141732284}"/>
</p:tagLst>
</file>

<file path=ppt/tags/tag81.xml><?xml version="1.0" encoding="utf-8"?>
<p:tagLst xmlns:p="http://schemas.openxmlformats.org/presentationml/2006/main">
  <p:tag name="KSO_WM_DIAGRAM_VIRTUALLY_FRAME" val="{&quot;height&quot;:354.33070866141736,&quot;left&quot;:23.62204724409449,&quot;top&quot;:141.73228346456693,&quot;width&quot;:961.8866141732284}"/>
</p:tagLst>
</file>

<file path=ppt/tags/tag82.xml><?xml version="1.0" encoding="utf-8"?>
<p:tagLst xmlns:p="http://schemas.openxmlformats.org/presentationml/2006/main">
  <p:tag name="KSO_WM_DIAGRAM_VIRTUALLY_FRAME" val="{&quot;height&quot;:354.33070866141736,&quot;left&quot;:23.62204724409449,&quot;top&quot;:141.73228346456693,&quot;width&quot;:961.8866141732284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1396</Words>
  <Application>WPS 演示</Application>
  <PresentationFormat>宽屏</PresentationFormat>
  <Paragraphs>136</Paragraphs>
  <Slides>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5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等线</vt:lpstr>
      <vt:lpstr>华文中宋</vt:lpstr>
      <vt:lpstr>Times New Roman</vt:lpstr>
      <vt:lpstr>WPS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武旻阳</cp:lastModifiedBy>
  <cp:revision>196</cp:revision>
  <dcterms:created xsi:type="dcterms:W3CDTF">2019-06-19T02:08:00Z</dcterms:created>
  <dcterms:modified xsi:type="dcterms:W3CDTF">2026-06-13T19:26:30Z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A26544F19D5748F69DCD430D77D5EE49_13</vt:lpwstr>
  </property>
</Properties>
</file>