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0"/>
            <a:ext cx="12192000" cy="685800"/>
            <a:chOff x="0" y="0"/>
            <a:chExt cx="19200" cy="1080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19200" cy="1080"/>
            </a:xfrm>
            <a:prstGeom prst="rect">
              <a:avLst/>
            </a:prstGeom>
            <a:solidFill>
              <a:srgbClr val="2D4C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23" name="图片 12" descr="logo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" y="160"/>
              <a:ext cx="2620" cy="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2" name="文本框 1031"/>
            <p:cNvSpPr txBox="1"/>
            <p:nvPr/>
          </p:nvSpPr>
          <p:spPr>
            <a:xfrm>
              <a:off x="3402" y="127"/>
              <a:ext cx="1548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模块：辩论、投票与指标评估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姓名：张易聆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3240103960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Text 0"/>
          <p:cNvSpPr/>
          <p:nvPr/>
        </p:nvSpPr>
        <p:spPr>
          <a:xfrm>
            <a:off x="744855" y="1077468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模块定位</a:t>
            </a:r>
            <a:endParaRPr lang="en-US" sz="2600" dirty="0"/>
          </a:p>
        </p:txBody>
      </p:sp>
      <p:sp>
        <p:nvSpPr>
          <p:cNvPr id="27" name="Text 1"/>
          <p:cNvSpPr/>
          <p:nvPr/>
        </p:nvSpPr>
        <p:spPr>
          <a:xfrm>
            <a:off x="658368" y="1727835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C模块：辩论、投票与指标评估</a:t>
            </a:r>
            <a:endParaRPr lang="en-US" sz="2400" dirty="0"/>
          </a:p>
        </p:txBody>
      </p:sp>
      <p:sp>
        <p:nvSpPr>
          <p:cNvPr id="28" name="Text 2"/>
          <p:cNvSpPr/>
          <p:nvPr/>
        </p:nvSpPr>
        <p:spPr>
          <a:xfrm>
            <a:off x="744728" y="2372233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4F7F"/>
                </a:solidFill>
              </a:rPr>
              <a:t>核心职责</a:t>
            </a:r>
            <a:endParaRPr lang="en-US" sz="16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895985" y="2905760"/>
            <a:ext cx="4010025" cy="1940560"/>
            <a:chOff x="1037" y="3859"/>
            <a:chExt cx="6264" cy="2562"/>
          </a:xfrm>
        </p:grpSpPr>
        <p:sp>
          <p:nvSpPr>
            <p:cNvPr id="29" name="Shape 3"/>
            <p:cNvSpPr/>
            <p:nvPr/>
          </p:nvSpPr>
          <p:spPr>
            <a:xfrm>
              <a:off x="1037" y="3859"/>
              <a:ext cx="6264" cy="2563"/>
            </a:xfrm>
            <a:prstGeom prst="roundRect">
              <a:avLst>
                <a:gd name="adj" fmla="val 5618"/>
              </a:avLst>
            </a:prstGeom>
            <a:solidFill>
              <a:srgbClr val="F8FAFD"/>
            </a:solidFill>
            <a:ln w="13970">
              <a:solidFill>
                <a:srgbClr val="D9E2F3"/>
              </a:solidFill>
              <a:prstDash val="solid"/>
            </a:ln>
          </p:spPr>
        </p:sp>
        <p:sp>
          <p:nvSpPr>
            <p:cNvPr id="31" name="Text 4"/>
            <p:cNvSpPr/>
            <p:nvPr/>
          </p:nvSpPr>
          <p:spPr>
            <a:xfrm>
              <a:off x="1411" y="4147"/>
              <a:ext cx="554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• 判断是否进入 debate mode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32" name="Text 5"/>
            <p:cNvSpPr/>
            <p:nvPr/>
          </p:nvSpPr>
          <p:spPr>
            <a:xfrm>
              <a:off x="1411" y="4666"/>
              <a:ext cx="554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• 生成每个 Agent 的 claim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33" name="Text 6"/>
            <p:cNvSpPr/>
            <p:nvPr/>
          </p:nvSpPr>
          <p:spPr>
            <a:xfrm>
              <a:off x="1411" y="5184"/>
              <a:ext cx="554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• 按观点、置信度、人格与信任投票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34" name="Text 7"/>
            <p:cNvSpPr/>
            <p:nvPr/>
          </p:nvSpPr>
          <p:spPr>
            <a:xfrm>
              <a:off x="1411" y="5702"/>
              <a:ext cx="554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• 输出 debate 与 metrics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674360" y="1294769"/>
            <a:ext cx="5761990" cy="3561025"/>
            <a:chOff x="7848" y="3500"/>
            <a:chExt cx="10224" cy="2922"/>
          </a:xfrm>
        </p:grpSpPr>
        <p:sp>
          <p:nvSpPr>
            <p:cNvPr id="35" name="Shape 8"/>
            <p:cNvSpPr/>
            <p:nvPr/>
          </p:nvSpPr>
          <p:spPr>
            <a:xfrm>
              <a:off x="7848" y="3500"/>
              <a:ext cx="10224" cy="2922"/>
            </a:xfrm>
            <a:prstGeom prst="roundRect">
              <a:avLst>
                <a:gd name="adj" fmla="val 5618"/>
              </a:avLst>
            </a:prstGeom>
            <a:solidFill>
              <a:srgbClr val="FFFFFF"/>
            </a:solidFill>
            <a:ln w="13970">
              <a:solidFill>
                <a:srgbClr val="D9E2F3"/>
              </a:solidFill>
              <a:prstDash val="solid"/>
            </a:ln>
          </p:spPr>
        </p:sp>
        <p:sp>
          <p:nvSpPr>
            <p:cNvPr id="36" name="Text 9"/>
            <p:cNvSpPr/>
            <p:nvPr/>
          </p:nvSpPr>
          <p:spPr>
            <a:xfrm>
              <a:off x="8280" y="4392"/>
              <a:ext cx="1843" cy="1123"/>
            </a:xfrm>
            <a:prstGeom prst="rect">
              <a:avLst/>
            </a:prstGeom>
            <a:solidFill>
              <a:srgbClr val="EAF0F8"/>
            </a:solidFill>
            <a:ln w="13970">
              <a:solidFill>
                <a:srgbClr val="D4DFEF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A/B更新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state</a:t>
              </a:r>
              <a:endParaRPr lang="en-US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7" name="Shape 10"/>
            <p:cNvSpPr/>
            <p:nvPr/>
          </p:nvSpPr>
          <p:spPr>
            <a:xfrm>
              <a:off x="10123" y="4954"/>
              <a:ext cx="576" cy="0"/>
            </a:xfrm>
            <a:prstGeom prst="line">
              <a:avLst/>
            </a:prstGeom>
            <a:noFill/>
            <a:ln w="19050">
              <a:solidFill>
                <a:srgbClr val="2F4F7F"/>
              </a:solidFill>
              <a:prstDash val="solid"/>
              <a:headEnd type="none"/>
              <a:tailEnd type="triangle"/>
            </a:ln>
          </p:spPr>
        </p:sp>
        <p:sp>
          <p:nvSpPr>
            <p:cNvPr id="38" name="Text 11"/>
            <p:cNvSpPr/>
            <p:nvPr/>
          </p:nvSpPr>
          <p:spPr>
            <a:xfrm>
              <a:off x="10872" y="4392"/>
              <a:ext cx="1843" cy="1123"/>
            </a:xfrm>
            <a:prstGeom prst="rect">
              <a:avLst/>
            </a:prstGeom>
            <a:solidFill>
              <a:srgbClr val="FFF4D8"/>
            </a:solidFill>
            <a:ln w="13970">
              <a:solidFill>
                <a:srgbClr val="D4DFEF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C模块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辩论投票</a:t>
              </a:r>
              <a:endParaRPr lang="en-US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9" name="Shape 12"/>
            <p:cNvSpPr/>
            <p:nvPr/>
          </p:nvSpPr>
          <p:spPr>
            <a:xfrm>
              <a:off x="12715" y="4954"/>
              <a:ext cx="576" cy="0"/>
            </a:xfrm>
            <a:prstGeom prst="line">
              <a:avLst/>
            </a:prstGeom>
            <a:noFill/>
            <a:ln w="19050">
              <a:solidFill>
                <a:srgbClr val="2F4F7F"/>
              </a:solidFill>
              <a:prstDash val="solid"/>
              <a:headEnd type="none"/>
              <a:tailEnd type="triangle"/>
            </a:ln>
          </p:spPr>
        </p:sp>
        <p:sp>
          <p:nvSpPr>
            <p:cNvPr id="40" name="Text 13"/>
            <p:cNvSpPr/>
            <p:nvPr/>
          </p:nvSpPr>
          <p:spPr>
            <a:xfrm>
              <a:off x="13464" y="4392"/>
              <a:ext cx="1843" cy="1123"/>
            </a:xfrm>
            <a:prstGeom prst="rect">
              <a:avLst/>
            </a:prstGeom>
            <a:solidFill>
              <a:srgbClr val="EAF0F8"/>
            </a:solidFill>
            <a:ln w="13970">
              <a:solidFill>
                <a:srgbClr val="D4DFEF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输出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debate/metrics</a:t>
              </a:r>
              <a:endParaRPr lang="en-US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1" name="Shape 14"/>
            <p:cNvSpPr/>
            <p:nvPr/>
          </p:nvSpPr>
          <p:spPr>
            <a:xfrm>
              <a:off x="15307" y="4954"/>
              <a:ext cx="576" cy="0"/>
            </a:xfrm>
            <a:prstGeom prst="line">
              <a:avLst/>
            </a:prstGeom>
            <a:noFill/>
            <a:ln w="19050">
              <a:solidFill>
                <a:srgbClr val="2F4F7F"/>
              </a:solidFill>
              <a:prstDash val="solid"/>
              <a:headEnd type="none"/>
              <a:tailEnd type="triangle"/>
            </a:ln>
          </p:spPr>
        </p:sp>
        <p:sp>
          <p:nvSpPr>
            <p:cNvPr id="42" name="Text 15"/>
            <p:cNvSpPr/>
            <p:nvPr/>
          </p:nvSpPr>
          <p:spPr>
            <a:xfrm>
              <a:off x="16056" y="4392"/>
              <a:ext cx="1843" cy="1123"/>
            </a:xfrm>
            <a:prstGeom prst="rect">
              <a:avLst/>
            </a:prstGeom>
            <a:solidFill>
              <a:srgbClr val="EAF0F8"/>
            </a:solidFill>
            <a:ln w="13970">
              <a:solidFill>
                <a:srgbClr val="D4DFEF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D模块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2F4F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可视化</a:t>
              </a:r>
              <a:endParaRPr lang="en-US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744855" y="5269865"/>
            <a:ext cx="10817352" cy="713232"/>
            <a:chOff x="1274" y="7002"/>
            <a:chExt cx="17035" cy="1123"/>
          </a:xfrm>
        </p:grpSpPr>
        <p:sp>
          <p:nvSpPr>
            <p:cNvPr id="43" name="Shape 16"/>
            <p:cNvSpPr/>
            <p:nvPr/>
          </p:nvSpPr>
          <p:spPr>
            <a:xfrm>
              <a:off x="1274" y="7002"/>
              <a:ext cx="17035" cy="1123"/>
            </a:xfrm>
            <a:prstGeom prst="roundRect">
              <a:avLst>
                <a:gd name="adj" fmla="val 12821"/>
              </a:avLst>
            </a:prstGeom>
            <a:solidFill>
              <a:srgbClr val="EAF0F8"/>
            </a:solidFill>
            <a:ln w="13970">
              <a:solidFill>
                <a:srgbClr val="C7D7EE"/>
              </a:solidFill>
              <a:prstDash val="solid"/>
            </a:ln>
          </p:spPr>
        </p:sp>
        <p:sp>
          <p:nvSpPr>
            <p:cNvPr id="44" name="Text 17"/>
            <p:cNvSpPr/>
            <p:nvPr/>
          </p:nvSpPr>
          <p:spPr>
            <a:xfrm>
              <a:off x="1749" y="7319"/>
              <a:ext cx="1598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F4F7F"/>
                  </a:solidFill>
                </a:rPr>
                <a:t>把 Agent 对话后的群体分歧，转化为可解释的辩论、投票和指标结果。</a:t>
              </a:r>
              <a:endParaRPr lang="en-US" sz="2000" b="1" dirty="0">
                <a:solidFill>
                  <a:srgbClr val="2F4F7F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0"/>
            <a:ext cx="12192000" cy="685800"/>
            <a:chOff x="0" y="0"/>
            <a:chExt cx="19200" cy="1080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19200" cy="1080"/>
            </a:xfrm>
            <a:prstGeom prst="rect">
              <a:avLst/>
            </a:prstGeom>
            <a:solidFill>
              <a:srgbClr val="2D4C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23" name="图片 12" descr="logo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" y="160"/>
              <a:ext cx="2620" cy="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2" name="文本框 1031"/>
            <p:cNvSpPr txBox="1"/>
            <p:nvPr/>
          </p:nvSpPr>
          <p:spPr>
            <a:xfrm>
              <a:off x="3402" y="127"/>
              <a:ext cx="1548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模块：辩论、投票与指标评估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姓名：张易聆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3240103960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94360" y="1693418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C模块实现流程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49320" y="1149350"/>
            <a:ext cx="1447165" cy="503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4F7F"/>
                </a:solidFill>
              </a:rPr>
              <a:t>统一入口</a:t>
            </a:r>
            <a:endParaRPr lang="en-US" sz="2000" b="1" dirty="0">
              <a:solidFill>
                <a:srgbClr val="2F4F7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7278" y="5335270"/>
            <a:ext cx="105156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397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5022" y="5545582"/>
            <a:ext cx="10012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4F7F"/>
                </a:solidFill>
              </a:rPr>
              <a:t>处理结果写回统一 state：debate + metrics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848610"/>
            <a:ext cx="1965960" cy="1964055"/>
          </a:xfrm>
          <a:prstGeom prst="rect">
            <a:avLst/>
          </a:prstGeom>
          <a:solidFill>
            <a:srgbClr val="EAF0F8"/>
          </a:solidFill>
          <a:ln w="13970">
            <a:solidFill>
              <a:srgbClr val="D4DF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读取state</a:t>
            </a:r>
            <a:endParaRPr lang="en-US" sz="1600" b="1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event / agents / messages / relationships</a:t>
            </a:r>
            <a:endParaRPr lang="en-US" sz="1600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51760" y="3821430"/>
            <a:ext cx="247015" cy="0"/>
          </a:xfrm>
          <a:prstGeom prst="line">
            <a:avLst/>
          </a:prstGeom>
          <a:noFill/>
          <a:ln w="19050">
            <a:solidFill>
              <a:srgbClr val="2F4F7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53385" y="2848610"/>
            <a:ext cx="1965960" cy="1964055"/>
          </a:xfrm>
          <a:prstGeom prst="rect">
            <a:avLst/>
          </a:prstGeom>
          <a:solidFill>
            <a:srgbClr val="EAF0F8"/>
          </a:solidFill>
          <a:ln w="13970">
            <a:solidFill>
              <a:srgbClr val="D4DF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触发判断</a:t>
            </a:r>
            <a:endParaRPr lang="en-US" sz="1600" b="1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 + 低置信度 + 不确定性</a:t>
            </a:r>
            <a:endParaRPr lang="en-US" sz="1600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Text 8"/>
          <p:cNvSpPr/>
          <p:nvPr>
            <p:custDataLst>
              <p:tags r:id="rId2"/>
            </p:custDataLst>
          </p:nvPr>
        </p:nvSpPr>
        <p:spPr>
          <a:xfrm>
            <a:off x="5220970" y="2848610"/>
            <a:ext cx="1965960" cy="1964055"/>
          </a:xfrm>
          <a:prstGeom prst="rect">
            <a:avLst/>
          </a:prstGeom>
          <a:solidFill>
            <a:srgbClr val="FFF4D8"/>
          </a:solidFill>
          <a:ln w="13970">
            <a:solidFill>
              <a:srgbClr val="D4DF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Claims</a:t>
            </a:r>
            <a:endParaRPr lang="en-US" sz="1600" b="1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为每个 Agent 生成立场陈述</a:t>
            </a:r>
            <a:endParaRPr lang="en-US" sz="1600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9"/>
          <p:cNvSpPr/>
          <p:nvPr>
            <p:custDataLst>
              <p:tags r:id="rId3"/>
            </p:custDataLst>
          </p:nvPr>
        </p:nvSpPr>
        <p:spPr>
          <a:xfrm>
            <a:off x="7186930" y="3821430"/>
            <a:ext cx="247015" cy="0"/>
          </a:xfrm>
          <a:prstGeom prst="line">
            <a:avLst/>
          </a:prstGeom>
          <a:noFill/>
          <a:ln w="19050">
            <a:solidFill>
              <a:srgbClr val="2F4F7F"/>
            </a:solidFill>
            <a:prstDash val="solid"/>
            <a:headEnd type="none"/>
            <a:tailEnd type="triangle"/>
          </a:ln>
        </p:spPr>
      </p:sp>
      <p:sp>
        <p:nvSpPr>
          <p:cNvPr id="32" name="Text 10"/>
          <p:cNvSpPr/>
          <p:nvPr>
            <p:custDataLst>
              <p:tags r:id="rId4"/>
            </p:custDataLst>
          </p:nvPr>
        </p:nvSpPr>
        <p:spPr>
          <a:xfrm>
            <a:off x="7489190" y="2848610"/>
            <a:ext cx="1965960" cy="1964055"/>
          </a:xfrm>
          <a:prstGeom prst="rect">
            <a:avLst/>
          </a:prstGeom>
          <a:solidFill>
            <a:srgbClr val="FFF4D8"/>
          </a:solidFill>
          <a:ln w="13970">
            <a:solidFill>
              <a:srgbClr val="D4DF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Votes</a:t>
            </a:r>
            <a:endParaRPr lang="en-US" sz="1600" b="1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 vote 与 confidence</a:t>
            </a:r>
            <a:endParaRPr lang="en-US" sz="1600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11"/>
          <p:cNvSpPr/>
          <p:nvPr>
            <p:custDataLst>
              <p:tags r:id="rId5"/>
            </p:custDataLst>
          </p:nvPr>
        </p:nvSpPr>
        <p:spPr>
          <a:xfrm>
            <a:off x="9455150" y="3821430"/>
            <a:ext cx="247015" cy="0"/>
          </a:xfrm>
          <a:prstGeom prst="line">
            <a:avLst/>
          </a:prstGeom>
          <a:noFill/>
          <a:ln w="19050">
            <a:solidFill>
              <a:srgbClr val="2F4F7F"/>
            </a:solidFill>
            <a:prstDash val="solid"/>
            <a:headEnd type="none"/>
            <a:tailEnd type="triangle"/>
          </a:ln>
        </p:spPr>
      </p:sp>
      <p:sp>
        <p:nvSpPr>
          <p:cNvPr id="34" name="Text 12"/>
          <p:cNvSpPr/>
          <p:nvPr>
            <p:custDataLst>
              <p:tags r:id="rId6"/>
            </p:custDataLst>
          </p:nvPr>
        </p:nvSpPr>
        <p:spPr>
          <a:xfrm>
            <a:off x="9756775" y="2848610"/>
            <a:ext cx="1965960" cy="1964055"/>
          </a:xfrm>
          <a:prstGeom prst="rect">
            <a:avLst/>
          </a:prstGeom>
          <a:solidFill>
            <a:srgbClr val="EAF0F8"/>
          </a:solidFill>
          <a:ln w="13970">
            <a:solidFill>
              <a:srgbClr val="D4DF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Metrics</a:t>
            </a:r>
            <a:endParaRPr lang="en-US" sz="1600" b="1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更新传播率、置信度与共识</a:t>
            </a:r>
            <a:endParaRPr lang="en-US" sz="1600" dirty="0">
              <a:solidFill>
                <a:srgbClr val="2F4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47" name="组合 46"/>
          <p:cNvGrpSpPr/>
          <p:nvPr>
            <p:custDataLst>
              <p:tags r:id="rId7"/>
            </p:custDataLst>
          </p:nvPr>
        </p:nvGrpSpPr>
        <p:grpSpPr>
          <a:xfrm>
            <a:off x="5904230" y="2003425"/>
            <a:ext cx="4114800" cy="632460"/>
            <a:chOff x="9092" y="3192"/>
            <a:chExt cx="6480" cy="996"/>
          </a:xfrm>
        </p:grpSpPr>
        <p:sp>
          <p:nvSpPr>
            <p:cNvPr id="35" name="Shape 15"/>
            <p:cNvSpPr/>
            <p:nvPr>
              <p:custDataLst>
                <p:tags r:id="rId8"/>
              </p:custDataLst>
            </p:nvPr>
          </p:nvSpPr>
          <p:spPr>
            <a:xfrm>
              <a:off x="9092" y="3192"/>
              <a:ext cx="1440" cy="996"/>
            </a:xfrm>
            <a:prstGeom prst="roundRect">
              <a:avLst>
                <a:gd name="adj" fmla="val 22222"/>
              </a:avLst>
            </a:prstGeom>
            <a:solidFill>
              <a:srgbClr val="DDF2E6"/>
            </a:solidFill>
            <a:ln w="12700">
              <a:solidFill>
                <a:srgbClr val="DDF2E6"/>
              </a:solidFill>
              <a:prstDash val="solid"/>
            </a:ln>
          </p:spPr>
        </p:sp>
        <p:sp>
          <p:nvSpPr>
            <p:cNvPr id="36" name="Text 16"/>
            <p:cNvSpPr/>
            <p:nvPr>
              <p:custDataLst>
                <p:tags r:id="rId9"/>
              </p:custDataLst>
            </p:nvPr>
          </p:nvSpPr>
          <p:spPr>
            <a:xfrm>
              <a:off x="9207" y="3399"/>
              <a:ext cx="1210" cy="4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单入口</a:t>
              </a:r>
              <a:endParaRPr lang="en-US" sz="1400" b="1" dirty="0">
                <a:solidFill>
                  <a:srgbClr val="1F2937"/>
                </a:solidFill>
              </a:endParaRPr>
            </a:p>
          </p:txBody>
        </p:sp>
        <p:sp>
          <p:nvSpPr>
            <p:cNvPr id="37" name="Shape 17"/>
            <p:cNvSpPr/>
            <p:nvPr>
              <p:custDataLst>
                <p:tags r:id="rId10"/>
              </p:custDataLst>
            </p:nvPr>
          </p:nvSpPr>
          <p:spPr>
            <a:xfrm>
              <a:off x="10791" y="3192"/>
              <a:ext cx="2088" cy="996"/>
            </a:xfrm>
            <a:prstGeom prst="roundRect">
              <a:avLst>
                <a:gd name="adj" fmla="val 22222"/>
              </a:avLst>
            </a:prstGeom>
            <a:solidFill>
              <a:srgbClr val="ECE6F9"/>
            </a:solidFill>
            <a:ln w="12700">
              <a:solidFill>
                <a:srgbClr val="ECE6F9"/>
              </a:solidFill>
              <a:prstDash val="solid"/>
            </a:ln>
          </p:spPr>
        </p:sp>
        <p:sp>
          <p:nvSpPr>
            <p:cNvPr id="38" name="Text 18"/>
            <p:cNvSpPr/>
            <p:nvPr>
              <p:custDataLst>
                <p:tags r:id="rId11"/>
              </p:custDataLst>
            </p:nvPr>
          </p:nvSpPr>
          <p:spPr>
            <a:xfrm>
              <a:off x="10906" y="3399"/>
              <a:ext cx="1858" cy="4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结构化输出</a:t>
              </a:r>
              <a:endParaRPr lang="en-US" sz="1400" b="1" dirty="0">
                <a:solidFill>
                  <a:srgbClr val="1F2937"/>
                </a:solidFill>
              </a:endParaRPr>
            </a:p>
          </p:txBody>
        </p:sp>
        <p:sp>
          <p:nvSpPr>
            <p:cNvPr id="39" name="Shape 19"/>
            <p:cNvSpPr/>
            <p:nvPr>
              <p:custDataLst>
                <p:tags r:id="rId12"/>
              </p:custDataLst>
            </p:nvPr>
          </p:nvSpPr>
          <p:spPr>
            <a:xfrm>
              <a:off x="13196" y="3192"/>
              <a:ext cx="2376" cy="996"/>
            </a:xfrm>
            <a:prstGeom prst="roundRect">
              <a:avLst>
                <a:gd name="adj" fmla="val 22222"/>
              </a:avLst>
            </a:prstGeom>
            <a:solidFill>
              <a:srgbClr val="FFF4D8"/>
            </a:solidFill>
            <a:ln w="12700">
              <a:solidFill>
                <a:srgbClr val="FFF4D8"/>
              </a:solidFill>
              <a:prstDash val="solid"/>
            </a:ln>
          </p:spPr>
        </p:sp>
        <p:sp>
          <p:nvSpPr>
            <p:cNvPr id="40" name="Text 20"/>
            <p:cNvSpPr/>
            <p:nvPr>
              <p:custDataLst>
                <p:tags r:id="rId13"/>
              </p:custDataLst>
            </p:nvPr>
          </p:nvSpPr>
          <p:spPr>
            <a:xfrm>
              <a:off x="13311" y="3399"/>
              <a:ext cx="2146" cy="4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不改原始状态</a:t>
              </a:r>
              <a:endParaRPr lang="en-US" sz="1400" b="1" dirty="0">
                <a:solidFill>
                  <a:srgbClr val="1F2937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744720" y="979170"/>
            <a:ext cx="6571615" cy="829310"/>
            <a:chOff x="3024" y="2275"/>
            <a:chExt cx="8136" cy="834"/>
          </a:xfrm>
        </p:grpSpPr>
        <p:sp>
          <p:nvSpPr>
            <p:cNvPr id="41" name="Shape 2"/>
            <p:cNvSpPr/>
            <p:nvPr/>
          </p:nvSpPr>
          <p:spPr>
            <a:xfrm>
              <a:off x="3024" y="2275"/>
              <a:ext cx="8136" cy="835"/>
            </a:xfrm>
            <a:prstGeom prst="roundRect">
              <a:avLst>
                <a:gd name="adj" fmla="val 17241"/>
              </a:avLst>
            </a:prstGeom>
            <a:solidFill>
              <a:srgbClr val="F6F7FB"/>
            </a:solidFill>
            <a:ln w="13970">
              <a:solidFill>
                <a:srgbClr val="D7DEEA"/>
              </a:solidFill>
              <a:prstDash val="solid"/>
            </a:ln>
          </p:spPr>
        </p:sp>
        <p:sp>
          <p:nvSpPr>
            <p:cNvPr id="42" name="Text 3"/>
            <p:cNvSpPr/>
            <p:nvPr/>
          </p:nvSpPr>
          <p:spPr>
            <a:xfrm>
              <a:off x="3240" y="2520"/>
              <a:ext cx="7704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F2937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state = update_debate_and_metrics(state, timestep)</a:t>
              </a:r>
              <a:endParaRPr lang="en-US" dirty="0">
                <a:solidFill>
                  <a:srgbClr val="1F29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</p:grpSp>
      <p:sp>
        <p:nvSpPr>
          <p:cNvPr id="46" name="Shape 7"/>
          <p:cNvSpPr/>
          <p:nvPr>
            <p:custDataLst>
              <p:tags r:id="rId14"/>
            </p:custDataLst>
          </p:nvPr>
        </p:nvSpPr>
        <p:spPr>
          <a:xfrm>
            <a:off x="4919472" y="3819398"/>
            <a:ext cx="246888" cy="0"/>
          </a:xfrm>
          <a:prstGeom prst="line">
            <a:avLst/>
          </a:prstGeom>
          <a:noFill/>
          <a:ln w="19050">
            <a:solidFill>
              <a:srgbClr val="2F4F7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0"/>
            <a:ext cx="12192000" cy="685800"/>
            <a:chOff x="0" y="0"/>
            <a:chExt cx="19200" cy="1080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19200" cy="1080"/>
            </a:xfrm>
            <a:prstGeom prst="rect">
              <a:avLst/>
            </a:prstGeom>
            <a:solidFill>
              <a:srgbClr val="2D4C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23" name="图片 12" descr="logo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" y="160"/>
              <a:ext cx="2620" cy="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2" name="文本框 1031"/>
            <p:cNvSpPr txBox="1"/>
            <p:nvPr/>
          </p:nvSpPr>
          <p:spPr>
            <a:xfrm>
              <a:off x="3402" y="127"/>
              <a:ext cx="1548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模块：辩论、投票与指标评估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姓名：张易聆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3240103960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94360" y="841248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Debate Mode 与 Vote 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5074920" cy="4251960"/>
          </a:xfrm>
          <a:prstGeom prst="roundRect">
            <a:avLst>
              <a:gd name="adj" fmla="val 2151"/>
            </a:avLst>
          </a:prstGeom>
          <a:solidFill>
            <a:srgbClr val="F9FAFC"/>
          </a:solidFill>
          <a:ln w="13970">
            <a:solidFill>
              <a:srgbClr val="D7DEEA"/>
            </a:solidFill>
            <a:prstDash val="solid"/>
          </a:ln>
        </p:spPr>
      </p:sp>
      <p:grpSp>
        <p:nvGrpSpPr>
          <p:cNvPr id="33" name="组合 32"/>
          <p:cNvGrpSpPr/>
          <p:nvPr/>
        </p:nvGrpSpPr>
        <p:grpSpPr>
          <a:xfrm>
            <a:off x="960120" y="1764665"/>
            <a:ext cx="4435475" cy="3564890"/>
            <a:chOff x="1512" y="2779"/>
            <a:chExt cx="6696" cy="4521"/>
          </a:xfrm>
        </p:grpSpPr>
        <p:sp>
          <p:nvSpPr>
            <p:cNvPr id="4" name="Text 2"/>
            <p:cNvSpPr/>
            <p:nvPr/>
          </p:nvSpPr>
          <p:spPr>
            <a:xfrm>
              <a:off x="1512" y="2779"/>
              <a:ext cx="3312" cy="4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4F7F"/>
                  </a:solidFill>
                </a:rPr>
                <a:t>辩论触发条件</a:t>
              </a:r>
              <a:endParaRPr lang="en-US" sz="2000" b="1" dirty="0">
                <a:solidFill>
                  <a:srgbClr val="2F4F7F"/>
                </a:solidFill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1512" y="3672"/>
              <a:ext cx="6696" cy="893"/>
            </a:xfrm>
            <a:prstGeom prst="roundRect">
              <a:avLst>
                <a:gd name="adj" fmla="val 16129"/>
              </a:avLst>
            </a:prstGeom>
            <a:solidFill>
              <a:srgbClr val="FBE4E6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757" y="3917"/>
              <a:ext cx="1728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观点冲突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3672" y="3917"/>
              <a:ext cx="4248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B5563"/>
                  </a:solidFill>
                </a:rPr>
                <a:t>同时存在 believe 与 reject</a:t>
              </a:r>
              <a:endParaRPr lang="en-US" sz="1600" dirty="0">
                <a:solidFill>
                  <a:srgbClr val="4B5563"/>
                </a:solidFill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1512" y="5040"/>
              <a:ext cx="6696" cy="893"/>
            </a:xfrm>
            <a:prstGeom prst="roundRect">
              <a:avLst>
                <a:gd name="adj" fmla="val 16129"/>
              </a:avLst>
            </a:prstGeom>
            <a:solidFill>
              <a:srgbClr val="FFF4D8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1757" y="5285"/>
              <a:ext cx="1728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低置信度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672" y="5285"/>
              <a:ext cx="4248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B5563"/>
                  </a:solidFill>
                </a:rPr>
                <a:t>平均置信度低于 0.6</a:t>
              </a:r>
              <a:endParaRPr lang="en-US" sz="1600" dirty="0">
                <a:solidFill>
                  <a:srgbClr val="4B5563"/>
                </a:solidFill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1512" y="6408"/>
              <a:ext cx="6696" cy="893"/>
            </a:xfrm>
            <a:prstGeom prst="roundRect">
              <a:avLst>
                <a:gd name="adj" fmla="val 16129"/>
              </a:avLst>
            </a:prstGeom>
            <a:solidFill>
              <a:srgbClr val="EAF0F8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1757" y="6653"/>
              <a:ext cx="1728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高不确定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672" y="6653"/>
              <a:ext cx="4248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B5563"/>
                  </a:solidFill>
                </a:rPr>
                <a:t>uncertain 数量超过半数</a:t>
              </a:r>
              <a:endParaRPr lang="en-US" sz="1600" dirty="0">
                <a:solidFill>
                  <a:srgbClr val="4B5563"/>
                </a:solidFill>
              </a:endParaRPr>
            </a:p>
          </p:txBody>
        </p:sp>
      </p:grpSp>
      <p:sp>
        <p:nvSpPr>
          <p:cNvPr id="14" name="Shape 12"/>
          <p:cNvSpPr/>
          <p:nvPr/>
        </p:nvSpPr>
        <p:spPr>
          <a:xfrm>
            <a:off x="6446520" y="1481455"/>
            <a:ext cx="507492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397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145" y="1764665"/>
            <a:ext cx="2011680" cy="301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4F7F"/>
                </a:solidFill>
              </a:rPr>
              <a:t>投票打分因素</a:t>
            </a:r>
            <a:endParaRPr lang="en-US" sz="2000" b="1" dirty="0">
              <a:solidFill>
                <a:srgbClr val="2F4F7F"/>
              </a:solidFill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760210" y="2186305"/>
            <a:ext cx="4480560" cy="3394710"/>
            <a:chOff x="10872" y="3412"/>
            <a:chExt cx="7056" cy="5346"/>
          </a:xfrm>
        </p:grpSpPr>
        <p:sp>
          <p:nvSpPr>
            <p:cNvPr id="16" name="Shape 14"/>
            <p:cNvSpPr/>
            <p:nvPr/>
          </p:nvSpPr>
          <p:spPr>
            <a:xfrm>
              <a:off x="13284" y="4268"/>
              <a:ext cx="2232" cy="2180"/>
            </a:xfrm>
            <a:prstGeom prst="roundRect">
              <a:avLst>
                <a:gd name="adj" fmla="val 12195"/>
              </a:avLst>
            </a:prstGeom>
            <a:solidFill>
              <a:srgbClr val="2F4F7F"/>
            </a:solidFill>
            <a:ln w="13970">
              <a:solidFill>
                <a:srgbClr val="2F4F7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3457" y="4954"/>
              <a:ext cx="187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Vote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Engine</a:t>
              </a:r>
              <a:endParaRPr 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10872" y="3438"/>
              <a:ext cx="2160" cy="1170"/>
            </a:xfrm>
            <a:prstGeom prst="roundRect">
              <a:avLst>
                <a:gd name="adj" fmla="val 22727"/>
              </a:avLst>
            </a:prstGeom>
            <a:solidFill>
              <a:srgbClr val="EAF0F8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1016" y="3885"/>
              <a:ext cx="1872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opinion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15768" y="3412"/>
              <a:ext cx="2160" cy="1170"/>
            </a:xfrm>
            <a:prstGeom prst="roundRect">
              <a:avLst>
                <a:gd name="adj" fmla="val 22727"/>
              </a:avLst>
            </a:prstGeom>
            <a:solidFill>
              <a:srgbClr val="DDF2E6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24" name="Text 19"/>
            <p:cNvSpPr/>
            <p:nvPr/>
          </p:nvSpPr>
          <p:spPr>
            <a:xfrm>
              <a:off x="15912" y="3859"/>
              <a:ext cx="1872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confidence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  <p:sp>
          <p:nvSpPr>
            <p:cNvPr id="25" name="Shape 20"/>
            <p:cNvSpPr/>
            <p:nvPr/>
          </p:nvSpPr>
          <p:spPr>
            <a:xfrm>
              <a:off x="10872" y="6508"/>
              <a:ext cx="2160" cy="1170"/>
            </a:xfrm>
            <a:prstGeom prst="roundRect">
              <a:avLst>
                <a:gd name="adj" fmla="val 22727"/>
              </a:avLst>
            </a:prstGeom>
            <a:solidFill>
              <a:srgbClr val="ECE6F9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26" name="Text 21"/>
            <p:cNvSpPr/>
            <p:nvPr/>
          </p:nvSpPr>
          <p:spPr>
            <a:xfrm>
              <a:off x="11016" y="6955"/>
              <a:ext cx="1872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personality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  <p:sp>
          <p:nvSpPr>
            <p:cNvPr id="27" name="Shape 22"/>
            <p:cNvSpPr/>
            <p:nvPr/>
          </p:nvSpPr>
          <p:spPr>
            <a:xfrm>
              <a:off x="15768" y="6508"/>
              <a:ext cx="2160" cy="1170"/>
            </a:xfrm>
            <a:prstGeom prst="roundRect">
              <a:avLst>
                <a:gd name="adj" fmla="val 22727"/>
              </a:avLst>
            </a:prstGeom>
            <a:solidFill>
              <a:srgbClr val="FFF4D8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28" name="Text 23"/>
            <p:cNvSpPr/>
            <p:nvPr/>
          </p:nvSpPr>
          <p:spPr>
            <a:xfrm>
              <a:off x="15912" y="6955"/>
              <a:ext cx="1872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trust graph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  <p:sp>
          <p:nvSpPr>
            <p:cNvPr id="29" name="Shape 24"/>
            <p:cNvSpPr/>
            <p:nvPr/>
          </p:nvSpPr>
          <p:spPr>
            <a:xfrm>
              <a:off x="13320" y="7588"/>
              <a:ext cx="2160" cy="1170"/>
            </a:xfrm>
            <a:prstGeom prst="roundRect">
              <a:avLst>
                <a:gd name="adj" fmla="val 22727"/>
              </a:avLst>
            </a:prstGeom>
            <a:solidFill>
              <a:srgbClr val="FBE4E6"/>
            </a:solidFill>
            <a:ln w="13970">
              <a:solidFill>
                <a:srgbClr val="D6DAE5"/>
              </a:solidFill>
              <a:prstDash val="solid"/>
            </a:ln>
          </p:spPr>
        </p:sp>
        <p:sp>
          <p:nvSpPr>
            <p:cNvPr id="31" name="Text 25"/>
            <p:cNvSpPr/>
            <p:nvPr/>
          </p:nvSpPr>
          <p:spPr>
            <a:xfrm>
              <a:off x="13464" y="8035"/>
              <a:ext cx="1872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verified event</a:t>
              </a:r>
              <a:endParaRPr lang="en-US" sz="1600" b="1" dirty="0">
                <a:solidFill>
                  <a:srgbClr val="1F2937"/>
                </a:solidFill>
              </a:endParaRPr>
            </a:p>
          </p:txBody>
        </p:sp>
      </p:grpSp>
      <p:sp>
        <p:nvSpPr>
          <p:cNvPr id="32" name="Text 26"/>
          <p:cNvSpPr/>
          <p:nvPr/>
        </p:nvSpPr>
        <p:spPr>
          <a:xfrm>
            <a:off x="1966595" y="6158230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4F7F"/>
                </a:solidFill>
              </a:rPr>
              <a:t>投票不是复制当前观点，而是综合状态、人格、关系与验证信息。</a:t>
            </a:r>
            <a:endParaRPr lang="en-US" sz="2000" b="1" dirty="0">
              <a:solidFill>
                <a:srgbClr val="2F4F7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0"/>
            <a:ext cx="12192000" cy="685800"/>
            <a:chOff x="0" y="0"/>
            <a:chExt cx="19200" cy="1080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19200" cy="1080"/>
            </a:xfrm>
            <a:prstGeom prst="rect">
              <a:avLst/>
            </a:prstGeom>
            <a:solidFill>
              <a:srgbClr val="2D4C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23" name="图片 12" descr="logo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" y="160"/>
              <a:ext cx="2620" cy="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2" name="文本框 1031"/>
            <p:cNvSpPr txBox="1"/>
            <p:nvPr/>
          </p:nvSpPr>
          <p:spPr>
            <a:xfrm>
              <a:off x="3402" y="127"/>
              <a:ext cx="1548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模块：辩论、投票与指标评估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姓名：张易聆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3240103960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94360" y="841248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output_A 的模块自测结果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说明：使用 A 模块生成的 output_A/state_A_timestep_0~4.json 进行模块自测。</a:t>
            </a:r>
            <a:endParaRPr lang="en-US" sz="1250" dirty="0"/>
          </a:p>
        </p:txBody>
      </p:sp>
      <p:grpSp>
        <p:nvGrpSpPr>
          <p:cNvPr id="71" name="组合 70"/>
          <p:cNvGrpSpPr/>
          <p:nvPr/>
        </p:nvGrpSpPr>
        <p:grpSpPr>
          <a:xfrm>
            <a:off x="749935" y="1755775"/>
            <a:ext cx="7271385" cy="3191510"/>
            <a:chOff x="1181" y="2765"/>
            <a:chExt cx="9331" cy="3370"/>
          </a:xfrm>
        </p:grpSpPr>
        <p:sp>
          <p:nvSpPr>
            <p:cNvPr id="4" name="Text 2"/>
            <p:cNvSpPr/>
            <p:nvPr/>
          </p:nvSpPr>
          <p:spPr>
            <a:xfrm>
              <a:off x="1181" y="2765"/>
              <a:ext cx="893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轮次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2074" y="2765"/>
              <a:ext cx="1512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触发辩论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586" y="2765"/>
              <a:ext cx="1008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claim数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594" y="2765"/>
              <a:ext cx="1080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believe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5674" y="2765"/>
              <a:ext cx="1080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reject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754" y="2765"/>
              <a:ext cx="1238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uncertain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992" y="2765"/>
              <a:ext cx="1080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传播率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9072" y="2765"/>
              <a:ext cx="1440" cy="562"/>
            </a:xfrm>
            <a:prstGeom prst="rect">
              <a:avLst/>
            </a:prstGeom>
            <a:solidFill>
              <a:srgbClr val="2F4F7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平均置信度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181" y="3326"/>
              <a:ext cx="893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074" y="3326"/>
              <a:ext cx="1512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True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586" y="3326"/>
              <a:ext cx="100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4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4594" y="3326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5674" y="3326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754" y="3326"/>
              <a:ext cx="123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7992" y="3326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0.25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9072" y="3326"/>
              <a:ext cx="144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0.613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181" y="3888"/>
              <a:ext cx="893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4" name="Text 19"/>
            <p:cNvSpPr/>
            <p:nvPr/>
          </p:nvSpPr>
          <p:spPr>
            <a:xfrm>
              <a:off x="2074" y="3888"/>
              <a:ext cx="1512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True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5" name="Text 20"/>
            <p:cNvSpPr/>
            <p:nvPr/>
          </p:nvSpPr>
          <p:spPr>
            <a:xfrm>
              <a:off x="3586" y="3888"/>
              <a:ext cx="100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4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6" name="Text 21"/>
            <p:cNvSpPr/>
            <p:nvPr/>
          </p:nvSpPr>
          <p:spPr>
            <a:xfrm>
              <a:off x="4594" y="3888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7" name="Text 22"/>
            <p:cNvSpPr/>
            <p:nvPr/>
          </p:nvSpPr>
          <p:spPr>
            <a:xfrm>
              <a:off x="5674" y="3888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8" name="Text 23"/>
            <p:cNvSpPr/>
            <p:nvPr/>
          </p:nvSpPr>
          <p:spPr>
            <a:xfrm>
              <a:off x="6754" y="3888"/>
              <a:ext cx="123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9" name="Text 24"/>
            <p:cNvSpPr/>
            <p:nvPr/>
          </p:nvSpPr>
          <p:spPr>
            <a:xfrm>
              <a:off x="7992" y="3888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0.25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1" name="Text 25"/>
            <p:cNvSpPr/>
            <p:nvPr/>
          </p:nvSpPr>
          <p:spPr>
            <a:xfrm>
              <a:off x="9072" y="3888"/>
              <a:ext cx="144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0.628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2" name="Text 26"/>
            <p:cNvSpPr/>
            <p:nvPr/>
          </p:nvSpPr>
          <p:spPr>
            <a:xfrm>
              <a:off x="1181" y="4450"/>
              <a:ext cx="893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3" name="Text 27"/>
            <p:cNvSpPr/>
            <p:nvPr/>
          </p:nvSpPr>
          <p:spPr>
            <a:xfrm>
              <a:off x="2074" y="4450"/>
              <a:ext cx="1512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True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4" name="Text 28"/>
            <p:cNvSpPr/>
            <p:nvPr/>
          </p:nvSpPr>
          <p:spPr>
            <a:xfrm>
              <a:off x="3586" y="4450"/>
              <a:ext cx="100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4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5" name="Text 29"/>
            <p:cNvSpPr/>
            <p:nvPr/>
          </p:nvSpPr>
          <p:spPr>
            <a:xfrm>
              <a:off x="4594" y="4450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6" name="Text 30"/>
            <p:cNvSpPr/>
            <p:nvPr/>
          </p:nvSpPr>
          <p:spPr>
            <a:xfrm>
              <a:off x="5674" y="4450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7" name="Text 31"/>
            <p:cNvSpPr/>
            <p:nvPr/>
          </p:nvSpPr>
          <p:spPr>
            <a:xfrm>
              <a:off x="6754" y="4450"/>
              <a:ext cx="123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8" name="Text 32"/>
            <p:cNvSpPr/>
            <p:nvPr/>
          </p:nvSpPr>
          <p:spPr>
            <a:xfrm>
              <a:off x="7992" y="4450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0.25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9" name="Text 33"/>
            <p:cNvSpPr/>
            <p:nvPr/>
          </p:nvSpPr>
          <p:spPr>
            <a:xfrm>
              <a:off x="9072" y="4450"/>
              <a:ext cx="144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0.627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0" name="Text 34"/>
            <p:cNvSpPr/>
            <p:nvPr/>
          </p:nvSpPr>
          <p:spPr>
            <a:xfrm>
              <a:off x="1181" y="5011"/>
              <a:ext cx="893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3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1" name="Text 35"/>
            <p:cNvSpPr/>
            <p:nvPr/>
          </p:nvSpPr>
          <p:spPr>
            <a:xfrm>
              <a:off x="2074" y="5011"/>
              <a:ext cx="1512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True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2" name="Text 36"/>
            <p:cNvSpPr/>
            <p:nvPr/>
          </p:nvSpPr>
          <p:spPr>
            <a:xfrm>
              <a:off x="3586" y="5011"/>
              <a:ext cx="100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4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3" name="Text 37"/>
            <p:cNvSpPr/>
            <p:nvPr/>
          </p:nvSpPr>
          <p:spPr>
            <a:xfrm>
              <a:off x="4594" y="5011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4" name="Text 38"/>
            <p:cNvSpPr/>
            <p:nvPr/>
          </p:nvSpPr>
          <p:spPr>
            <a:xfrm>
              <a:off x="5674" y="5011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5" name="Text 39"/>
            <p:cNvSpPr/>
            <p:nvPr/>
          </p:nvSpPr>
          <p:spPr>
            <a:xfrm>
              <a:off x="6754" y="5011"/>
              <a:ext cx="123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6" name="Text 40"/>
            <p:cNvSpPr/>
            <p:nvPr/>
          </p:nvSpPr>
          <p:spPr>
            <a:xfrm>
              <a:off x="7992" y="5011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0.25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7" name="Text 41"/>
            <p:cNvSpPr/>
            <p:nvPr/>
          </p:nvSpPr>
          <p:spPr>
            <a:xfrm>
              <a:off x="9072" y="5011"/>
              <a:ext cx="144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0.650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8" name="Text 42"/>
            <p:cNvSpPr/>
            <p:nvPr/>
          </p:nvSpPr>
          <p:spPr>
            <a:xfrm>
              <a:off x="1181" y="5573"/>
              <a:ext cx="893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4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9" name="Text 43"/>
            <p:cNvSpPr/>
            <p:nvPr/>
          </p:nvSpPr>
          <p:spPr>
            <a:xfrm>
              <a:off x="2074" y="5573"/>
              <a:ext cx="1512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True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0" name="Text 44"/>
            <p:cNvSpPr/>
            <p:nvPr/>
          </p:nvSpPr>
          <p:spPr>
            <a:xfrm>
              <a:off x="3586" y="5573"/>
              <a:ext cx="100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4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1" name="Text 45"/>
            <p:cNvSpPr/>
            <p:nvPr/>
          </p:nvSpPr>
          <p:spPr>
            <a:xfrm>
              <a:off x="4594" y="5573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2" name="Text 46"/>
            <p:cNvSpPr/>
            <p:nvPr/>
          </p:nvSpPr>
          <p:spPr>
            <a:xfrm>
              <a:off x="5674" y="5573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3" name="Text 47"/>
            <p:cNvSpPr/>
            <p:nvPr/>
          </p:nvSpPr>
          <p:spPr>
            <a:xfrm>
              <a:off x="6754" y="5573"/>
              <a:ext cx="1238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4" name="Text 48"/>
            <p:cNvSpPr/>
            <p:nvPr/>
          </p:nvSpPr>
          <p:spPr>
            <a:xfrm>
              <a:off x="7992" y="5573"/>
              <a:ext cx="108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0.25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5" name="Text 49"/>
            <p:cNvSpPr/>
            <p:nvPr/>
          </p:nvSpPr>
          <p:spPr>
            <a:xfrm>
              <a:off x="9072" y="5573"/>
              <a:ext cx="1440" cy="56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6DAE5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0.620</a:t>
              </a:r>
              <a:endPara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8458200" y="1755775"/>
            <a:ext cx="3022600" cy="3191510"/>
            <a:chOff x="13320" y="2765"/>
            <a:chExt cx="4760" cy="4328"/>
          </a:xfrm>
        </p:grpSpPr>
        <p:sp>
          <p:nvSpPr>
            <p:cNvPr id="56" name="Shape 50"/>
            <p:cNvSpPr/>
            <p:nvPr/>
          </p:nvSpPr>
          <p:spPr>
            <a:xfrm>
              <a:off x="13320" y="2765"/>
              <a:ext cx="4761" cy="4329"/>
            </a:xfrm>
            <a:prstGeom prst="roundRect">
              <a:avLst>
                <a:gd name="adj" fmla="val 3571"/>
              </a:avLst>
            </a:prstGeom>
            <a:solidFill>
              <a:srgbClr val="F8FAFD"/>
            </a:solidFill>
            <a:ln w="13970">
              <a:solidFill>
                <a:srgbClr val="D7DEEA"/>
              </a:solidFill>
              <a:prstDash val="solid"/>
            </a:ln>
          </p:spPr>
        </p:sp>
        <p:sp>
          <p:nvSpPr>
            <p:cNvPr id="57" name="Text 51"/>
            <p:cNvSpPr/>
            <p:nvPr/>
          </p:nvSpPr>
          <p:spPr>
            <a:xfrm>
              <a:off x="13796" y="3108"/>
              <a:ext cx="2551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4F7F"/>
                  </a:solidFill>
                </a:rPr>
                <a:t>补充结论</a:t>
              </a:r>
              <a:endParaRPr lang="en-US" sz="2000" b="1" dirty="0">
                <a:solidFill>
                  <a:srgbClr val="2F4F7F"/>
                </a:solidFill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13796" y="3810"/>
              <a:ext cx="3847" cy="2844"/>
              <a:chOff x="13796" y="3810"/>
              <a:chExt cx="3570" cy="2477"/>
            </a:xfrm>
          </p:grpSpPr>
          <p:sp>
            <p:nvSpPr>
              <p:cNvPr id="58" name="Text 52"/>
              <p:cNvSpPr/>
              <p:nvPr/>
            </p:nvSpPr>
            <p:spPr>
              <a:xfrm>
                <a:off x="13796" y="3810"/>
                <a:ext cx="3571" cy="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1F2937"/>
                    </a:solidFill>
                  </a:rPr>
                  <a:t>• 5 轮全部触发辩论</a:t>
                </a:r>
                <a:endParaRPr lang="en-US" sz="1600" dirty="0">
                  <a:solidFill>
                    <a:srgbClr val="1F2937"/>
                  </a:solidFill>
                </a:endParaRPr>
              </a:p>
            </p:txBody>
          </p:sp>
          <p:sp>
            <p:nvSpPr>
              <p:cNvPr id="59" name="Text 53"/>
              <p:cNvSpPr/>
              <p:nvPr/>
            </p:nvSpPr>
            <p:spPr>
              <a:xfrm>
                <a:off x="13796" y="4526"/>
                <a:ext cx="3571" cy="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1F2937"/>
                    </a:solidFill>
                  </a:rPr>
                  <a:t>• 每轮生成 4 条 claim</a:t>
                </a:r>
                <a:endParaRPr lang="en-US" sz="1600" dirty="0">
                  <a:solidFill>
                    <a:srgbClr val="1F2937"/>
                  </a:solidFill>
                </a:endParaRPr>
              </a:p>
            </p:txBody>
          </p:sp>
          <p:sp>
            <p:nvSpPr>
              <p:cNvPr id="60" name="Text 54"/>
              <p:cNvSpPr/>
              <p:nvPr/>
            </p:nvSpPr>
            <p:spPr>
              <a:xfrm>
                <a:off x="13796" y="5243"/>
                <a:ext cx="3571" cy="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1F2937"/>
                    </a:solidFill>
                  </a:rPr>
                  <a:t>• agents / relationships 未被修改</a:t>
                </a:r>
                <a:endParaRPr lang="en-US" sz="1600" dirty="0">
                  <a:solidFill>
                    <a:srgbClr val="1F2937"/>
                  </a:solidFill>
                </a:endParaRPr>
              </a:p>
            </p:txBody>
          </p:sp>
          <p:sp>
            <p:nvSpPr>
              <p:cNvPr id="61" name="Text 55"/>
              <p:cNvSpPr/>
              <p:nvPr/>
            </p:nvSpPr>
            <p:spPr>
              <a:xfrm>
                <a:off x="13796" y="5959"/>
                <a:ext cx="3571" cy="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1F2937"/>
                    </a:solidFill>
                  </a:rPr>
                  <a:t>• 未达成共识，保持分歧</a:t>
                </a:r>
                <a:endParaRPr lang="en-US" sz="1600" dirty="0">
                  <a:solidFill>
                    <a:srgbClr val="1F2937"/>
                  </a:solidFill>
                </a:endParaRPr>
              </a:p>
            </p:txBody>
          </p:sp>
        </p:grpSp>
      </p:grpSp>
      <p:sp>
        <p:nvSpPr>
          <p:cNvPr id="62" name="Shape 56"/>
          <p:cNvSpPr/>
          <p:nvPr/>
        </p:nvSpPr>
        <p:spPr>
          <a:xfrm>
            <a:off x="1203960" y="5330825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DDF2E6"/>
          </a:solidFill>
          <a:ln w="13970">
            <a:solidFill>
              <a:srgbClr val="D6DAE5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1295400" y="5486400"/>
            <a:ext cx="22860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4F7F"/>
                </a:solidFill>
              </a:rPr>
              <a:t>5/5</a:t>
            </a:r>
            <a:endParaRPr lang="en-US" sz="2800" b="1" dirty="0">
              <a:solidFill>
                <a:srgbClr val="2F4F7F"/>
              </a:solidFill>
            </a:endParaRPr>
          </a:p>
        </p:txBody>
      </p:sp>
      <p:sp>
        <p:nvSpPr>
          <p:cNvPr id="65" name="Shape 59"/>
          <p:cNvSpPr/>
          <p:nvPr/>
        </p:nvSpPr>
        <p:spPr>
          <a:xfrm>
            <a:off x="4861560" y="5330825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EAF0F8"/>
          </a:solidFill>
          <a:ln w="13970">
            <a:solidFill>
              <a:srgbClr val="D6DAE5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4953000" y="5486400"/>
            <a:ext cx="22860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4F7F"/>
                </a:solidFill>
              </a:rPr>
              <a:t>0.25</a:t>
            </a:r>
            <a:endParaRPr lang="en-US" sz="2800" b="1" dirty="0">
              <a:solidFill>
                <a:srgbClr val="2F4F7F"/>
              </a:solidFill>
            </a:endParaRPr>
          </a:p>
        </p:txBody>
      </p:sp>
      <p:sp>
        <p:nvSpPr>
          <p:cNvPr id="68" name="Shape 62"/>
          <p:cNvSpPr/>
          <p:nvPr/>
        </p:nvSpPr>
        <p:spPr>
          <a:xfrm>
            <a:off x="8519160" y="5330825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FF4D8"/>
          </a:solidFill>
          <a:ln w="13970">
            <a:solidFill>
              <a:srgbClr val="D6DAE5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8610600" y="5486400"/>
            <a:ext cx="22860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4F7F"/>
                </a:solidFill>
              </a:rPr>
              <a:t>通过</a:t>
            </a:r>
            <a:endParaRPr lang="en-US" sz="2800" b="1" dirty="0">
              <a:solidFill>
                <a:srgbClr val="2F4F7F"/>
              </a:solidFill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295400" y="5899785"/>
            <a:ext cx="9601200" cy="163830"/>
            <a:chOff x="2040" y="9230"/>
            <a:chExt cx="15120" cy="258"/>
          </a:xfrm>
        </p:grpSpPr>
        <p:sp>
          <p:nvSpPr>
            <p:cNvPr id="64" name="Text 58"/>
            <p:cNvSpPr/>
            <p:nvPr/>
          </p:nvSpPr>
          <p:spPr>
            <a:xfrm>
              <a:off x="2040" y="9230"/>
              <a:ext cx="3600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4B5563"/>
                  </a:solidFill>
                </a:rPr>
                <a:t>触发辩论</a:t>
              </a:r>
              <a:endParaRPr lang="en-US" dirty="0">
                <a:solidFill>
                  <a:srgbClr val="4B5563"/>
                </a:solidFill>
              </a:endParaRPr>
            </a:p>
          </p:txBody>
        </p:sp>
        <p:sp>
          <p:nvSpPr>
            <p:cNvPr id="67" name="Text 61"/>
            <p:cNvSpPr/>
            <p:nvPr/>
          </p:nvSpPr>
          <p:spPr>
            <a:xfrm>
              <a:off x="7800" y="9230"/>
              <a:ext cx="3600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4B5563"/>
                  </a:solidFill>
                </a:rPr>
                <a:t>传播率</a:t>
              </a:r>
              <a:endParaRPr lang="en-US" dirty="0">
                <a:solidFill>
                  <a:srgbClr val="4B5563"/>
                </a:solidFill>
              </a:endParaRPr>
            </a:p>
          </p:txBody>
        </p:sp>
        <p:sp>
          <p:nvSpPr>
            <p:cNvPr id="70" name="Text 64"/>
            <p:cNvSpPr/>
            <p:nvPr/>
          </p:nvSpPr>
          <p:spPr>
            <a:xfrm>
              <a:off x="13560" y="9230"/>
              <a:ext cx="3600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4B5563"/>
                  </a:solidFill>
                </a:rPr>
                <a:t>边界检查</a:t>
              </a:r>
              <a:endParaRPr lang="en-US" dirty="0">
                <a:solidFill>
                  <a:srgbClr val="4B5563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0"/>
            <a:ext cx="12192000" cy="685800"/>
            <a:chOff x="0" y="0"/>
            <a:chExt cx="19200" cy="1080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19200" cy="1080"/>
            </a:xfrm>
            <a:prstGeom prst="rect">
              <a:avLst/>
            </a:prstGeom>
            <a:solidFill>
              <a:srgbClr val="2D4C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23" name="图片 12" descr="logo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" y="160"/>
              <a:ext cx="2620" cy="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2" name="文本框 1031"/>
            <p:cNvSpPr txBox="1"/>
            <p:nvPr/>
          </p:nvSpPr>
          <p:spPr>
            <a:xfrm>
              <a:off x="3402" y="127"/>
              <a:ext cx="1548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模块：辩论、投票与指标评估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姓名：张易聆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3240103960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633095" y="966978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4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创新点与模块价值</a:t>
            </a:r>
            <a:endParaRPr lang="en-US" sz="26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909955" y="1750695"/>
            <a:ext cx="10296525" cy="1414780"/>
            <a:chOff x="1433" y="2757"/>
            <a:chExt cx="16215" cy="2228"/>
          </a:xfrm>
        </p:grpSpPr>
        <p:sp>
          <p:nvSpPr>
            <p:cNvPr id="3" name="Shape 1"/>
            <p:cNvSpPr/>
            <p:nvPr/>
          </p:nvSpPr>
          <p:spPr>
            <a:xfrm>
              <a:off x="1433" y="2757"/>
              <a:ext cx="3024" cy="2228"/>
            </a:xfrm>
            <a:prstGeom prst="roundRect">
              <a:avLst>
                <a:gd name="adj" fmla="val 9259"/>
              </a:avLst>
            </a:prstGeom>
            <a:solidFill>
              <a:srgbClr val="EAF0F8"/>
            </a:solidFill>
            <a:ln w="13970">
              <a:solidFill>
                <a:srgbClr val="C7D7EE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1606" y="3170"/>
              <a:ext cx="2678" cy="49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F4F7F"/>
                  </a:solidFill>
                </a:rPr>
                <a:t>输入</a:t>
              </a:r>
              <a:endParaRPr lang="en-US" sz="2000" b="1" dirty="0">
                <a:solidFill>
                  <a:srgbClr val="2F4F7F"/>
                </a:solidFill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606" y="4036"/>
              <a:ext cx="2678" cy="4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统一 state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4457" y="3871"/>
              <a:ext cx="1714" cy="0"/>
            </a:xfrm>
            <a:prstGeom prst="line">
              <a:avLst/>
            </a:prstGeom>
            <a:noFill/>
            <a:ln w="19050">
              <a:solidFill>
                <a:srgbClr val="2F4F7F"/>
              </a:solidFill>
              <a:prstDash val="solid"/>
              <a:headEnd type="none"/>
              <a:tailEnd type="triangle"/>
            </a:ln>
          </p:spPr>
        </p:sp>
        <p:sp>
          <p:nvSpPr>
            <p:cNvPr id="7" name="Shape 5"/>
            <p:cNvSpPr/>
            <p:nvPr/>
          </p:nvSpPr>
          <p:spPr>
            <a:xfrm>
              <a:off x="6171" y="2757"/>
              <a:ext cx="3024" cy="2228"/>
            </a:xfrm>
            <a:prstGeom prst="roundRect">
              <a:avLst>
                <a:gd name="adj" fmla="val 9259"/>
              </a:avLst>
            </a:prstGeom>
            <a:solidFill>
              <a:srgbClr val="FFF4D8"/>
            </a:solidFill>
            <a:ln w="13970">
              <a:solidFill>
                <a:srgbClr val="C7D7E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344" y="3170"/>
              <a:ext cx="2678" cy="49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F4F7F"/>
                  </a:solidFill>
                </a:rPr>
                <a:t>C模块处理</a:t>
              </a:r>
              <a:endParaRPr lang="en-US" sz="2000" b="1" dirty="0">
                <a:solidFill>
                  <a:srgbClr val="2F4F7F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344" y="4036"/>
              <a:ext cx="2678" cy="4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debate engine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9195" y="3871"/>
              <a:ext cx="1512" cy="0"/>
            </a:xfrm>
            <a:prstGeom prst="line">
              <a:avLst/>
            </a:prstGeom>
            <a:noFill/>
            <a:ln w="19050">
              <a:solidFill>
                <a:srgbClr val="2F4F7F"/>
              </a:solidFill>
              <a:prstDash val="solid"/>
              <a:headEnd type="none"/>
              <a:tailEnd type="triangle"/>
            </a:ln>
          </p:spPr>
        </p:sp>
        <p:sp>
          <p:nvSpPr>
            <p:cNvPr id="11" name="Shape 9"/>
            <p:cNvSpPr/>
            <p:nvPr/>
          </p:nvSpPr>
          <p:spPr>
            <a:xfrm>
              <a:off x="10707" y="2757"/>
              <a:ext cx="3024" cy="2228"/>
            </a:xfrm>
            <a:prstGeom prst="roundRect">
              <a:avLst>
                <a:gd name="adj" fmla="val 9259"/>
              </a:avLst>
            </a:prstGeom>
            <a:solidFill>
              <a:srgbClr val="EAF0F8"/>
            </a:solidFill>
            <a:ln w="13970">
              <a:solidFill>
                <a:srgbClr val="C7D7EE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10880" y="3170"/>
              <a:ext cx="2678" cy="49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F4F7F"/>
                  </a:solidFill>
                </a:rPr>
                <a:t>输出</a:t>
              </a:r>
              <a:endParaRPr lang="en-US" sz="2000" b="1" dirty="0">
                <a:solidFill>
                  <a:srgbClr val="2F4F7F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0880" y="4036"/>
              <a:ext cx="2678" cy="4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votes + metrics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13731" y="3871"/>
              <a:ext cx="893" cy="0"/>
            </a:xfrm>
            <a:prstGeom prst="line">
              <a:avLst/>
            </a:prstGeom>
            <a:noFill/>
            <a:ln w="19050">
              <a:solidFill>
                <a:srgbClr val="2F4F7F"/>
              </a:solidFill>
              <a:prstDash val="solid"/>
              <a:headEnd type="none"/>
              <a:tailEnd type="triangle"/>
            </a:ln>
          </p:spPr>
        </p:sp>
        <p:sp>
          <p:nvSpPr>
            <p:cNvPr id="15" name="Shape 13"/>
            <p:cNvSpPr/>
            <p:nvPr/>
          </p:nvSpPr>
          <p:spPr>
            <a:xfrm>
              <a:off x="14624" y="2757"/>
              <a:ext cx="3024" cy="2228"/>
            </a:xfrm>
            <a:prstGeom prst="roundRect">
              <a:avLst>
                <a:gd name="adj" fmla="val 9259"/>
              </a:avLst>
            </a:prstGeom>
            <a:solidFill>
              <a:srgbClr val="EAF0F8"/>
            </a:solidFill>
            <a:ln w="13970">
              <a:solidFill>
                <a:srgbClr val="C7D7E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14797" y="3170"/>
              <a:ext cx="2678" cy="49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F4F7F"/>
                  </a:solidFill>
                </a:rPr>
                <a:t>价值</a:t>
              </a:r>
              <a:endParaRPr lang="en-US" sz="2000" b="1" dirty="0">
                <a:solidFill>
                  <a:srgbClr val="2F4F7F"/>
                </a:solidFill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4797" y="4036"/>
              <a:ext cx="2678" cy="4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visualization / analysis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931545" y="3488690"/>
            <a:ext cx="10274935" cy="1814830"/>
          </a:xfrm>
          <a:prstGeom prst="roundRect">
            <a:avLst>
              <a:gd name="adj" fmla="val 5714"/>
            </a:avLst>
          </a:prstGeom>
          <a:solidFill>
            <a:srgbClr val="F8FAFD"/>
          </a:solidFill>
          <a:ln w="13970">
            <a:solidFill>
              <a:srgbClr val="D7DEEA"/>
            </a:solidFill>
            <a:prstDash val="solid"/>
          </a:ln>
        </p:spPr>
      </p:sp>
      <p:grpSp>
        <p:nvGrpSpPr>
          <p:cNvPr id="44" name="组合 43"/>
          <p:cNvGrpSpPr/>
          <p:nvPr/>
        </p:nvGrpSpPr>
        <p:grpSpPr>
          <a:xfrm rot="0">
            <a:off x="1414145" y="4100830"/>
            <a:ext cx="9001760" cy="932815"/>
            <a:chOff x="1800" y="6588"/>
            <a:chExt cx="7128" cy="1469"/>
          </a:xfrm>
        </p:grpSpPr>
        <p:sp>
          <p:nvSpPr>
            <p:cNvPr id="20" name="Text 18"/>
            <p:cNvSpPr/>
            <p:nvPr/>
          </p:nvSpPr>
          <p:spPr>
            <a:xfrm>
              <a:off x="1800" y="6588"/>
              <a:ext cx="7128" cy="3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• 将群体分歧转化为结构化 claim，让每个 Agent 的立场有观点、有置信度、有理由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24" name="Text 19"/>
            <p:cNvSpPr/>
            <p:nvPr/>
          </p:nvSpPr>
          <p:spPr>
            <a:xfrm>
              <a:off x="1800" y="7143"/>
              <a:ext cx="7128" cy="3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• 设计综合投票机制，不直接复制 opinion，而是融合置信度、人格参数、信任关系和验证状态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25" name="Text 20"/>
            <p:cNvSpPr/>
            <p:nvPr/>
          </p:nvSpPr>
          <p:spPr>
            <a:xfrm>
              <a:off x="1800" y="7699"/>
              <a:ext cx="7128" cy="3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• 将辩论结果沉淀为 debate + metrics，并保持只写入本模块字段的清晰边界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</p:grpSp>
      <p:sp>
        <p:nvSpPr>
          <p:cNvPr id="19" name="Text 17"/>
          <p:cNvSpPr/>
          <p:nvPr/>
        </p:nvSpPr>
        <p:spPr>
          <a:xfrm>
            <a:off x="1477010" y="3654425"/>
            <a:ext cx="3818890" cy="269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4F7F"/>
                </a:solidFill>
              </a:rPr>
              <a:t>项目创新点体现</a:t>
            </a:r>
            <a:endParaRPr lang="en-US" sz="2000" b="1" dirty="0">
              <a:solidFill>
                <a:srgbClr val="2F4F7F"/>
              </a:solidFill>
            </a:endParaRPr>
          </a:p>
        </p:txBody>
      </p:sp>
      <p:sp>
        <p:nvSpPr>
          <p:cNvPr id="33" name="Shape 27"/>
          <p:cNvSpPr/>
          <p:nvPr/>
        </p:nvSpPr>
        <p:spPr>
          <a:xfrm>
            <a:off x="2606040" y="5715000"/>
            <a:ext cx="6967728" cy="502920"/>
          </a:xfrm>
          <a:prstGeom prst="roundRect">
            <a:avLst>
              <a:gd name="adj" fmla="val 18182"/>
            </a:avLst>
          </a:prstGeom>
          <a:solidFill>
            <a:srgbClr val="2F4F7F"/>
          </a:solidFill>
          <a:ln w="13970">
            <a:solidFill>
              <a:srgbClr val="2F4F7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788920" y="5843016"/>
            <a:ext cx="66019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让系统从“对话记录”走向“可解释、可分析的群体判断结果”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2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3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4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5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6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7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8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9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10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11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12.xml><?xml version="1.0" encoding="utf-8"?>
<p:tagLst xmlns:p="http://schemas.openxmlformats.org/presentationml/2006/main">
  <p:tag name="KSO_WM_DIAGRAM_VIRTUALLY_FRAME" val="{&quot;height&quot;:271.45,&quot;left&quot;:54,&quot;top&quot;:107.5,&quot;width&quot;:869.05}"/>
</p:tagLst>
</file>

<file path=ppt/tags/tag13.xml><?xml version="1.0" encoding="utf-8"?>
<p:tagLst xmlns:p="http://schemas.openxmlformats.org/presentationml/2006/main">
  <p:tag name="KSO_WM_DIAGRAM_VIRTUALLY_FRAME" val="{&quot;height&quot;:169.2,&quot;left&quot;:387.36,&quot;top&quot;:122.4,&quot;width&quot;:535.6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</Words>
  <Application>WPS 演示</Application>
  <PresentationFormat>On-screen Show (16:9)</PresentationFormat>
  <Paragraphs>270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Arial Unicode MS</vt:lpstr>
      <vt:lpstr>等线</vt:lpstr>
      <vt:lpstr>华文中宋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人工智能课程期末Project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C模块：辩论、投票与指标评估</dc:title>
  <dc:creator>张易聆</dc:creator>
  <dc:subject>AlTown C Module</dc:subject>
  <cp:lastModifiedBy>张易聆</cp:lastModifiedBy>
  <cp:revision>2</cp:revision>
  <dcterms:created xsi:type="dcterms:W3CDTF">2026-06-07T15:42:00Z</dcterms:created>
  <dcterms:modified xsi:type="dcterms:W3CDTF">2026-06-08T07:26:47Z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931D2D170C33464F8381C0FE78B40CD5_12</vt:lpwstr>
  </property>
  <property fmtid="{D5CDD505-2E9C-101B-9397-08002B2CF9AE}" pid="3" name="KSOProductBuildVer">
    <vt:lpwstr>2052-12.1.0.23542</vt:lpwstr>
  </property>
</Properties>
</file>